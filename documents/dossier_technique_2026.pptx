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9906000" cx="6858000"/>
  <p:notesSz cx="6858000" cy="9144000"/>
  <p:embeddedFontLst>
    <p:embeddedFont>
      <p:font typeface="Montserrat"/>
      <p:regular r:id="rId18"/>
      <p:bold r:id="rId19"/>
      <p:italic r:id="rId20"/>
      <p:boldItalic r:id="rId21"/>
    </p:embeddedFont>
    <p:embeddedFont>
      <p:font typeface="Montserrat Light"/>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20">
          <p15:clr>
            <a:srgbClr val="000000"/>
          </p15:clr>
        </p15:guide>
        <p15:guide id="2" pos="4116">
          <p15:clr>
            <a:srgbClr val="000000"/>
          </p15:clr>
        </p15:guide>
        <p15:guide id="3" pos="247">
          <p15:clr>
            <a:srgbClr val="747775"/>
          </p15:clr>
        </p15:guide>
        <p15:guide id="4" orient="horz" pos="340">
          <p15:clr>
            <a:srgbClr val="747775"/>
          </p15:clr>
        </p15:guide>
        <p15:guide id="5" orient="horz" pos="583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20" orient="horz"/>
        <p:guide pos="4116"/>
        <p:guide pos="247"/>
        <p:guide pos="340" orient="horz"/>
        <p:guide pos="5839"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MontserratLight-regular.fntdata"/><Relationship Id="rId21" Type="http://schemas.openxmlformats.org/officeDocument/2006/relationships/font" Target="fonts/Montserrat-boldItalic.fntdata"/><Relationship Id="rId24" Type="http://schemas.openxmlformats.org/officeDocument/2006/relationships/font" Target="fonts/MontserratLight-italic.fntdata"/><Relationship Id="rId23" Type="http://schemas.openxmlformats.org/officeDocument/2006/relationships/font" Target="fonts/Montserrat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Montserrat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b2dd146fd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b2dd146f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bdf5884109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bdf588410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df588410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df588410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df5884109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df588410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df5884109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df588410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df5884109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bdf5884109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df5884109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df5884109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df5884109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df588410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df5884109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df588410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df5884109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bdf588410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df5884109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df588410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df5884109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df588410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514350" y="3077283"/>
            <a:ext cx="5829300" cy="212336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028700" y="5613400"/>
            <a:ext cx="4800600" cy="2531533"/>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342900" y="396699"/>
            <a:ext cx="6172200" cy="1651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342900" y="2311402"/>
            <a:ext cx="6172200" cy="653750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541735" y="6365522"/>
            <a:ext cx="5829300" cy="196744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body"/>
          </p:nvPr>
        </p:nvSpPr>
        <p:spPr>
          <a:xfrm>
            <a:off x="541735" y="4198587"/>
            <a:ext cx="5829300" cy="2166936"/>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342900" y="396699"/>
            <a:ext cx="6172200" cy="1651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342900" y="2311402"/>
            <a:ext cx="3028950" cy="653750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3486150" y="2311402"/>
            <a:ext cx="3028950" cy="653750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342900" y="396699"/>
            <a:ext cx="6172200" cy="1651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 type="body"/>
          </p:nvPr>
        </p:nvSpPr>
        <p:spPr>
          <a:xfrm>
            <a:off x="342900" y="2217385"/>
            <a:ext cx="3030141" cy="924101"/>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342900" y="3141486"/>
            <a:ext cx="3030141" cy="570741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3483770" y="2217385"/>
            <a:ext cx="3031331" cy="924101"/>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3483770" y="3141486"/>
            <a:ext cx="3031331" cy="570741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342900" y="396699"/>
            <a:ext cx="6172200" cy="1651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342901" y="394406"/>
            <a:ext cx="2256235" cy="1678517"/>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2681288" y="394406"/>
            <a:ext cx="3833813" cy="8454497"/>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342901" y="2072923"/>
            <a:ext cx="2256235" cy="677598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344216" y="6934201"/>
            <a:ext cx="4114800" cy="818622"/>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344216" y="885119"/>
            <a:ext cx="4114800" cy="59436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lnSpc>
                <a:spcPct val="100000"/>
              </a:lnSpc>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lnSpc>
                <a:spcPct val="100000"/>
              </a:lnSpc>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64" name="Google Shape;64;p10"/>
          <p:cNvSpPr txBox="1"/>
          <p:nvPr>
            <p:ph idx="1" type="body"/>
          </p:nvPr>
        </p:nvSpPr>
        <p:spPr>
          <a:xfrm>
            <a:off x="1344216" y="7752823"/>
            <a:ext cx="4114800" cy="1162578"/>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342900" y="396699"/>
            <a:ext cx="6172200" cy="1651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160249" y="2494053"/>
            <a:ext cx="6537502" cy="61722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1517474" y="3851277"/>
            <a:ext cx="8452202" cy="15430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1625776" y="2365377"/>
            <a:ext cx="8452202" cy="451485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900" y="396699"/>
            <a:ext cx="6172200" cy="1651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342900" y="2311402"/>
            <a:ext cx="6172200" cy="653750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342900" y="9181396"/>
            <a:ext cx="1600200" cy="527402"/>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2343150" y="9181396"/>
            <a:ext cx="2171700" cy="527402"/>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4914900" y="9181396"/>
            <a:ext cx="1600200" cy="527402"/>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9450" y="5125"/>
            <a:ext cx="2107500" cy="9906000"/>
          </a:xfrm>
          <a:prstGeom prst="snip1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Calibri"/>
              <a:ea typeface="Calibri"/>
              <a:cs typeface="Calibri"/>
              <a:sym typeface="Calibri"/>
            </a:endParaRPr>
          </a:p>
        </p:txBody>
      </p:sp>
      <p:sp>
        <p:nvSpPr>
          <p:cNvPr id="85" name="Google Shape;85;p13"/>
          <p:cNvSpPr txBox="1"/>
          <p:nvPr/>
        </p:nvSpPr>
        <p:spPr>
          <a:xfrm>
            <a:off x="2098050" y="540000"/>
            <a:ext cx="4436700" cy="89817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Clr>
                <a:schemeClr val="dk1"/>
              </a:buClr>
              <a:buSzPts val="1100"/>
              <a:buFont typeface="Arial"/>
              <a:buNone/>
            </a:pPr>
            <a:r>
              <a:rPr b="1" lang="fr-FR" sz="1100">
                <a:solidFill>
                  <a:srgbClr val="4472C4"/>
                </a:solidFill>
                <a:latin typeface="Montserrat"/>
                <a:ea typeface="Montserrat"/>
                <a:cs typeface="Montserrat"/>
                <a:sym typeface="Montserrat"/>
              </a:rPr>
              <a:t>FORMATIONS</a:t>
            </a:r>
            <a:endParaRPr b="1" sz="1100">
              <a:solidFill>
                <a:srgbClr val="4472C4"/>
              </a:solidFill>
              <a:latin typeface="Montserrat"/>
              <a:ea typeface="Montserrat"/>
              <a:cs typeface="Montserrat"/>
              <a:sym typeface="Montserrat"/>
            </a:endParaRPr>
          </a:p>
          <a:p>
            <a:pPr indent="0" lvl="0" marL="0" rtl="0" algn="l">
              <a:lnSpc>
                <a:spcPct val="150000"/>
              </a:lnSpc>
              <a:spcBef>
                <a:spcPts val="0"/>
              </a:spcBef>
              <a:spcAft>
                <a:spcPts val="0"/>
              </a:spcAft>
              <a:buClr>
                <a:schemeClr val="dk1"/>
              </a:buClr>
              <a:buSzPts val="1100"/>
              <a:buFont typeface="Arial"/>
              <a:buNone/>
            </a:pPr>
            <a:r>
              <a:rPr lang="fr-FR" sz="1100">
                <a:solidFill>
                  <a:schemeClr val="dk1"/>
                </a:solidFill>
                <a:latin typeface="Montserrat"/>
                <a:ea typeface="Montserrat"/>
                <a:cs typeface="Montserrat"/>
                <a:sym typeface="Montserrat"/>
              </a:rPr>
              <a:t>2016 : </a:t>
            </a:r>
            <a:r>
              <a:rPr b="1" lang="fr-FR" sz="1100">
                <a:solidFill>
                  <a:schemeClr val="dk1"/>
                </a:solidFill>
                <a:latin typeface="Montserrat"/>
                <a:ea typeface="Montserrat"/>
                <a:cs typeface="Montserrat"/>
                <a:sym typeface="Montserrat"/>
              </a:rPr>
              <a:t>Diplôme d'Ingénieur en Informatique et Robotique</a:t>
            </a:r>
            <a:r>
              <a:rPr lang="fr-FR" sz="1100">
                <a:solidFill>
                  <a:schemeClr val="dk1"/>
                </a:solidFill>
                <a:latin typeface="Montserrat"/>
                <a:ea typeface="Montserrat"/>
                <a:cs typeface="Montserrat"/>
                <a:sym typeface="Montserrat"/>
              </a:rPr>
              <a:t> - ENSTA Bretagne (Ecole Nationale Supérieure des Techniques Avancées) – Brest</a:t>
            </a:r>
            <a:endParaRPr sz="1100">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latin typeface="Montserrat"/>
              <a:ea typeface="Montserrat"/>
              <a:cs typeface="Montserrat"/>
              <a:sym typeface="Montserrat"/>
            </a:endParaRPr>
          </a:p>
          <a:p>
            <a:pPr indent="0" lvl="0" marL="0" rtl="0" algn="l">
              <a:lnSpc>
                <a:spcPct val="150000"/>
              </a:lnSpc>
              <a:spcBef>
                <a:spcPts val="0"/>
              </a:spcBef>
              <a:spcAft>
                <a:spcPts val="0"/>
              </a:spcAft>
              <a:buClr>
                <a:schemeClr val="dk1"/>
              </a:buClr>
              <a:buSzPts val="1100"/>
              <a:buFont typeface="Arial"/>
              <a:buNone/>
            </a:pPr>
            <a:r>
              <a:rPr lang="fr-FR" sz="1100">
                <a:solidFill>
                  <a:schemeClr val="dk1"/>
                </a:solidFill>
                <a:latin typeface="Montserrat"/>
                <a:ea typeface="Montserrat"/>
                <a:cs typeface="Montserrat"/>
                <a:sym typeface="Montserrat"/>
              </a:rPr>
              <a:t>2013 : </a:t>
            </a:r>
            <a:r>
              <a:rPr b="1" lang="fr-FR" sz="1100">
                <a:solidFill>
                  <a:schemeClr val="dk1"/>
                </a:solidFill>
                <a:latin typeface="Montserrat"/>
                <a:ea typeface="Montserrat"/>
                <a:cs typeface="Montserrat"/>
                <a:sym typeface="Montserrat"/>
              </a:rPr>
              <a:t>Classes Préparatoires Grandes Ecole</a:t>
            </a:r>
            <a:r>
              <a:rPr lang="fr-FR" sz="1100">
                <a:solidFill>
                  <a:schemeClr val="dk1"/>
                </a:solidFill>
                <a:latin typeface="Montserrat"/>
                <a:ea typeface="Montserrat"/>
                <a:cs typeface="Montserrat"/>
                <a:sym typeface="Montserrat"/>
              </a:rPr>
              <a:t> - PCSI – PSI - Lycée Vaucanson, Tours</a:t>
            </a:r>
            <a:br>
              <a:rPr lang="fr-FR"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a:p>
            <a:pPr indent="0" lvl="0" marL="0" rtl="0" algn="l">
              <a:lnSpc>
                <a:spcPct val="200000"/>
              </a:lnSpc>
              <a:spcBef>
                <a:spcPts val="0"/>
              </a:spcBef>
              <a:spcAft>
                <a:spcPts val="0"/>
              </a:spcAft>
              <a:buClr>
                <a:schemeClr val="dk1"/>
              </a:buClr>
              <a:buSzPts val="1100"/>
              <a:buFont typeface="Arial"/>
              <a:buNone/>
            </a:pPr>
            <a:r>
              <a:rPr b="1" lang="fr-FR" sz="1100">
                <a:solidFill>
                  <a:srgbClr val="4472C4"/>
                </a:solidFill>
                <a:latin typeface="Montserrat"/>
                <a:ea typeface="Montserrat"/>
                <a:cs typeface="Montserrat"/>
                <a:sym typeface="Montserrat"/>
              </a:rPr>
              <a:t>Outils DevOps</a:t>
            </a:r>
            <a:endParaRPr b="1" sz="1100">
              <a:solidFill>
                <a:srgbClr val="4472C4"/>
              </a:solidFill>
              <a:latin typeface="Montserrat"/>
              <a:ea typeface="Montserrat"/>
              <a:cs typeface="Montserrat"/>
              <a:sym typeface="Montserrat"/>
            </a:endParaRPr>
          </a:p>
          <a:p>
            <a:pPr indent="-317500" lvl="0" marL="457200" rtl="0" algn="just">
              <a:lnSpc>
                <a:spcPct val="115000"/>
              </a:lnSpc>
              <a:spcBef>
                <a:spcPts val="0"/>
              </a:spcBef>
              <a:spcAft>
                <a:spcPts val="0"/>
              </a:spcAft>
              <a:buClr>
                <a:schemeClr val="dk1"/>
              </a:buClr>
              <a:buSzPts val="1400"/>
              <a:buChar char="●"/>
            </a:pPr>
            <a:r>
              <a:rPr lang="fr-FR" sz="1100">
                <a:solidFill>
                  <a:schemeClr val="dk1"/>
                </a:solidFill>
                <a:latin typeface="Montserrat"/>
                <a:ea typeface="Montserrat"/>
                <a:cs typeface="Montserrat"/>
                <a:sym typeface="Montserrat"/>
              </a:rPr>
              <a:t>Élaboration d’Infrastructure </a:t>
            </a:r>
            <a:r>
              <a:rPr i="1" lang="fr-FR" sz="1100">
                <a:solidFill>
                  <a:schemeClr val="dk1"/>
                </a:solidFill>
                <a:latin typeface="Montserrat"/>
                <a:ea typeface="Montserrat"/>
                <a:cs typeface="Montserrat"/>
                <a:sym typeface="Montserrat"/>
              </a:rPr>
              <a:t>As a Code et As a Service</a:t>
            </a:r>
            <a:endParaRPr i="1" sz="1100">
              <a:solidFill>
                <a:schemeClr val="dk1"/>
              </a:solidFill>
              <a:latin typeface="Montserrat"/>
              <a:ea typeface="Montserrat"/>
              <a:cs typeface="Montserrat"/>
              <a:sym typeface="Montserrat"/>
            </a:endParaRPr>
          </a:p>
          <a:p>
            <a:pPr indent="-317500" lvl="0" marL="457200" rtl="0" algn="just">
              <a:lnSpc>
                <a:spcPct val="115000"/>
              </a:lnSpc>
              <a:spcBef>
                <a:spcPts val="0"/>
              </a:spcBef>
              <a:spcAft>
                <a:spcPts val="0"/>
              </a:spcAft>
              <a:buClr>
                <a:schemeClr val="dk1"/>
              </a:buClr>
              <a:buSzPts val="1400"/>
              <a:buChar char="●"/>
            </a:pPr>
            <a:r>
              <a:rPr lang="fr-FR" sz="1100">
                <a:solidFill>
                  <a:schemeClr val="dk1"/>
                </a:solidFill>
                <a:latin typeface="Montserrat"/>
                <a:ea typeface="Montserrat"/>
                <a:cs typeface="Montserrat"/>
                <a:sym typeface="Montserrat"/>
              </a:rPr>
              <a:t>Création et maintien de Forges Logicielles</a:t>
            </a:r>
            <a:endParaRPr sz="1100">
              <a:solidFill>
                <a:schemeClr val="dk1"/>
              </a:solidFill>
              <a:latin typeface="Montserrat"/>
              <a:ea typeface="Montserrat"/>
              <a:cs typeface="Montserrat"/>
              <a:sym typeface="Montserrat"/>
            </a:endParaRPr>
          </a:p>
          <a:p>
            <a:pPr indent="-317500" lvl="0" marL="457200" rtl="0" algn="just">
              <a:lnSpc>
                <a:spcPct val="115000"/>
              </a:lnSpc>
              <a:spcBef>
                <a:spcPts val="0"/>
              </a:spcBef>
              <a:spcAft>
                <a:spcPts val="0"/>
              </a:spcAft>
              <a:buClr>
                <a:schemeClr val="dk1"/>
              </a:buClr>
              <a:buSzPts val="1400"/>
              <a:buFont typeface="Montserrat"/>
              <a:buChar char="●"/>
            </a:pPr>
            <a:r>
              <a:rPr lang="fr-FR" sz="1100">
                <a:solidFill>
                  <a:schemeClr val="dk1"/>
                </a:solidFill>
                <a:latin typeface="Montserrat"/>
                <a:ea typeface="Montserrat"/>
                <a:cs typeface="Montserrat"/>
                <a:sym typeface="Montserrat"/>
              </a:rPr>
              <a:t>Expertise dans la conteneurisation (Docker) d'applications complexes</a:t>
            </a:r>
            <a:endParaRPr sz="1100">
              <a:solidFill>
                <a:schemeClr val="dk1"/>
              </a:solidFill>
              <a:latin typeface="Montserrat"/>
              <a:ea typeface="Montserrat"/>
              <a:cs typeface="Montserrat"/>
              <a:sym typeface="Montserrat"/>
            </a:endParaRPr>
          </a:p>
          <a:p>
            <a:pPr indent="-317500" lvl="0" marL="457200" rtl="0" algn="just">
              <a:lnSpc>
                <a:spcPct val="115000"/>
              </a:lnSpc>
              <a:spcBef>
                <a:spcPts val="0"/>
              </a:spcBef>
              <a:spcAft>
                <a:spcPts val="0"/>
              </a:spcAft>
              <a:buClr>
                <a:schemeClr val="dk1"/>
              </a:buClr>
              <a:buSzPts val="1400"/>
              <a:buFont typeface="Montserrat"/>
              <a:buChar char="●"/>
            </a:pPr>
            <a:r>
              <a:rPr lang="fr-FR" sz="1100">
                <a:solidFill>
                  <a:schemeClr val="dk1"/>
                </a:solidFill>
                <a:latin typeface="Montserrat"/>
                <a:ea typeface="Montserrat"/>
                <a:cs typeface="Montserrat"/>
                <a:sym typeface="Montserrat"/>
              </a:rPr>
              <a:t>Mise en place de workflow complet de CI/CD (tests automatiques, qualité de code, build, déploiements multi environnements) </a:t>
            </a:r>
            <a:endParaRPr sz="1100">
              <a:solidFill>
                <a:schemeClr val="dk1"/>
              </a:solidFill>
              <a:latin typeface="Montserrat"/>
              <a:ea typeface="Montserrat"/>
              <a:cs typeface="Montserrat"/>
              <a:sym typeface="Montserrat"/>
            </a:endParaRPr>
          </a:p>
          <a:p>
            <a:pPr indent="-317500" lvl="0" marL="457200" rtl="0" algn="just">
              <a:lnSpc>
                <a:spcPct val="115000"/>
              </a:lnSpc>
              <a:spcBef>
                <a:spcPts val="0"/>
              </a:spcBef>
              <a:spcAft>
                <a:spcPts val="0"/>
              </a:spcAft>
              <a:buClr>
                <a:schemeClr val="dk1"/>
              </a:buClr>
              <a:buSzPts val="1400"/>
              <a:buChar char="●"/>
            </a:pPr>
            <a:r>
              <a:rPr lang="fr-FR" sz="1100">
                <a:solidFill>
                  <a:schemeClr val="dk1"/>
                </a:solidFill>
                <a:latin typeface="Montserrat"/>
                <a:ea typeface="Montserrat"/>
                <a:cs typeface="Montserrat"/>
                <a:sym typeface="Montserrat"/>
              </a:rPr>
              <a:t>Administration et Configuration d’OS Linux et de containers</a:t>
            </a:r>
            <a:endParaRPr sz="1100">
              <a:solidFill>
                <a:schemeClr val="dk1"/>
              </a:solidFill>
              <a:latin typeface="Montserrat"/>
              <a:ea typeface="Montserrat"/>
              <a:cs typeface="Montserrat"/>
              <a:sym typeface="Montserrat"/>
            </a:endParaRPr>
          </a:p>
          <a:p>
            <a:pPr indent="-317500" lvl="0" marL="457200" rtl="0" algn="just">
              <a:lnSpc>
                <a:spcPct val="115000"/>
              </a:lnSpc>
              <a:spcBef>
                <a:spcPts val="0"/>
              </a:spcBef>
              <a:spcAft>
                <a:spcPts val="0"/>
              </a:spcAft>
              <a:buClr>
                <a:schemeClr val="dk1"/>
              </a:buClr>
              <a:buSzPts val="1400"/>
              <a:buChar char="●"/>
            </a:pPr>
            <a:r>
              <a:rPr lang="fr-FR" sz="1100">
                <a:solidFill>
                  <a:schemeClr val="dk1"/>
                </a:solidFill>
                <a:latin typeface="Montserrat"/>
                <a:ea typeface="Montserrat"/>
                <a:cs typeface="Montserrat"/>
                <a:sym typeface="Montserrat"/>
              </a:rPr>
              <a:t>Scripting et outillage</a:t>
            </a:r>
            <a:endParaRPr sz="11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l">
              <a:lnSpc>
                <a:spcPct val="200000"/>
              </a:lnSpc>
              <a:spcBef>
                <a:spcPts val="0"/>
              </a:spcBef>
              <a:spcAft>
                <a:spcPts val="0"/>
              </a:spcAft>
              <a:buClr>
                <a:schemeClr val="dk1"/>
              </a:buClr>
              <a:buSzPts val="1100"/>
              <a:buFont typeface="Arial"/>
              <a:buNone/>
            </a:pPr>
            <a:r>
              <a:rPr b="1" lang="fr-FR" sz="1200">
                <a:solidFill>
                  <a:srgbClr val="4472C4"/>
                </a:solidFill>
                <a:latin typeface="Montserrat"/>
                <a:ea typeface="Montserrat"/>
                <a:cs typeface="Montserrat"/>
                <a:sym typeface="Montserrat"/>
              </a:rPr>
              <a:t>Développement et Outillages</a:t>
            </a:r>
            <a:endParaRPr b="1" sz="1100">
              <a:solidFill>
                <a:srgbClr val="4472C4"/>
              </a:solidFill>
              <a:latin typeface="Montserrat"/>
              <a:ea typeface="Montserrat"/>
              <a:cs typeface="Montserrat"/>
              <a:sym typeface="Montserrat"/>
            </a:endParaRPr>
          </a:p>
          <a:p>
            <a:pPr indent="-311150" lvl="0" marL="457200" rtl="0" algn="just">
              <a:lnSpc>
                <a:spcPct val="115000"/>
              </a:lnSpc>
              <a:spcBef>
                <a:spcPts val="0"/>
              </a:spcBef>
              <a:spcAft>
                <a:spcPts val="0"/>
              </a:spcAft>
              <a:buClr>
                <a:schemeClr val="dk1"/>
              </a:buClr>
              <a:buSzPts val="1300"/>
              <a:buChar char="●"/>
            </a:pPr>
            <a:r>
              <a:rPr lang="fr-FR" sz="1100">
                <a:solidFill>
                  <a:schemeClr val="dk1"/>
                </a:solidFill>
                <a:latin typeface="Montserrat"/>
                <a:ea typeface="Montserrat"/>
                <a:cs typeface="Montserrat"/>
                <a:sym typeface="Montserrat"/>
              </a:rPr>
              <a:t>Conception et développement d’outillages sur mesure allant de scripts à des librairies complexes (Python, CLI, Bash)</a:t>
            </a:r>
            <a:endParaRPr sz="1100">
              <a:solidFill>
                <a:schemeClr val="dk1"/>
              </a:solidFill>
              <a:latin typeface="Montserrat"/>
              <a:ea typeface="Montserrat"/>
              <a:cs typeface="Montserrat"/>
              <a:sym typeface="Montserrat"/>
            </a:endParaRPr>
          </a:p>
          <a:p>
            <a:pPr indent="-317500" lvl="0" marL="457200" rtl="0" algn="just">
              <a:lnSpc>
                <a:spcPct val="115000"/>
              </a:lnSpc>
              <a:spcBef>
                <a:spcPts val="0"/>
              </a:spcBef>
              <a:spcAft>
                <a:spcPts val="0"/>
              </a:spcAft>
              <a:buClr>
                <a:schemeClr val="dk1"/>
              </a:buClr>
              <a:buSzPts val="1400"/>
              <a:buChar char="●"/>
            </a:pPr>
            <a:r>
              <a:rPr lang="fr-FR" sz="1100">
                <a:solidFill>
                  <a:schemeClr val="dk1"/>
                </a:solidFill>
                <a:latin typeface="Montserrat"/>
                <a:ea typeface="Montserrat"/>
                <a:cs typeface="Montserrat"/>
                <a:sym typeface="Montserrat"/>
              </a:rPr>
              <a:t>Développement de librairies partagées (Jenkins Shared Library, Gitlab-CI includes) permettant la standardisation et factorisation des pipelines CI/CD</a:t>
            </a:r>
            <a:endParaRPr sz="1100">
              <a:solidFill>
                <a:schemeClr val="dk1"/>
              </a:solidFill>
              <a:latin typeface="Montserrat"/>
              <a:ea typeface="Montserrat"/>
              <a:cs typeface="Montserrat"/>
              <a:sym typeface="Montserrat"/>
            </a:endParaRPr>
          </a:p>
          <a:p>
            <a:pPr indent="-317500" lvl="0" marL="457200" rtl="0" algn="just">
              <a:lnSpc>
                <a:spcPct val="115000"/>
              </a:lnSpc>
              <a:spcBef>
                <a:spcPts val="0"/>
              </a:spcBef>
              <a:spcAft>
                <a:spcPts val="0"/>
              </a:spcAft>
              <a:buClr>
                <a:schemeClr val="dk1"/>
              </a:buClr>
              <a:buSzPts val="1400"/>
              <a:buChar char="●"/>
            </a:pPr>
            <a:r>
              <a:rPr lang="fr-FR" sz="1100">
                <a:solidFill>
                  <a:schemeClr val="dk1"/>
                </a:solidFill>
                <a:latin typeface="Montserrat"/>
                <a:ea typeface="Montserrat"/>
                <a:cs typeface="Montserrat"/>
                <a:sym typeface="Montserrat"/>
              </a:rPr>
              <a:t>Rédaction de tests Unitaires et Fonctionnels</a:t>
            </a:r>
            <a:endParaRPr sz="11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000">
              <a:solidFill>
                <a:srgbClr val="E05693"/>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fr-FR" sz="1200">
                <a:solidFill>
                  <a:srgbClr val="4472C4"/>
                </a:solidFill>
                <a:latin typeface="Montserrat"/>
                <a:ea typeface="Montserrat"/>
                <a:cs typeface="Montserrat"/>
                <a:sym typeface="Montserrat"/>
              </a:rPr>
              <a:t>Leadership Technique et Accompagnement</a:t>
            </a:r>
            <a:endParaRPr b="1" sz="1200">
              <a:solidFill>
                <a:srgbClr val="E05693"/>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1200">
              <a:solidFill>
                <a:srgbClr val="E05693"/>
              </a:solidFill>
              <a:latin typeface="Montserrat"/>
              <a:ea typeface="Montserrat"/>
              <a:cs typeface="Montserrat"/>
              <a:sym typeface="Montserrat"/>
            </a:endParaRPr>
          </a:p>
          <a:p>
            <a:pPr indent="-311150" lvl="0" marL="457200" rtl="0" algn="l">
              <a:lnSpc>
                <a:spcPct val="115000"/>
              </a:lnSpc>
              <a:spcBef>
                <a:spcPts val="0"/>
              </a:spcBef>
              <a:spcAft>
                <a:spcPts val="0"/>
              </a:spcAft>
              <a:buClr>
                <a:schemeClr val="dk1"/>
              </a:buClr>
              <a:buSzPts val="1300"/>
              <a:buChar char="●"/>
            </a:pPr>
            <a:r>
              <a:rPr lang="fr-FR" sz="1100">
                <a:solidFill>
                  <a:schemeClr val="dk1"/>
                </a:solidFill>
                <a:latin typeface="Montserrat"/>
                <a:ea typeface="Montserrat"/>
                <a:cs typeface="Montserrat"/>
                <a:sym typeface="Montserrat"/>
              </a:rPr>
              <a:t>Mentoring &amp; Formation: Accompagnement quotidien des équipes de développement (Git Flow, bonnes pratiques Docker/CI), évangélisation des méthodes DevOps.</a:t>
            </a:r>
            <a:endParaRPr sz="1100">
              <a:solidFill>
                <a:schemeClr val="dk1"/>
              </a:solidFill>
              <a:latin typeface="Montserrat"/>
              <a:ea typeface="Montserrat"/>
              <a:cs typeface="Montserrat"/>
              <a:sym typeface="Montserrat"/>
            </a:endParaRPr>
          </a:p>
          <a:p>
            <a:pPr indent="-311150" lvl="0" marL="457200" rtl="0" algn="l">
              <a:lnSpc>
                <a:spcPct val="115000"/>
              </a:lnSpc>
              <a:spcBef>
                <a:spcPts val="0"/>
              </a:spcBef>
              <a:spcAft>
                <a:spcPts val="0"/>
              </a:spcAft>
              <a:buClr>
                <a:schemeClr val="dk1"/>
              </a:buClr>
              <a:buSzPts val="1300"/>
              <a:buChar char="●"/>
            </a:pPr>
            <a:r>
              <a:rPr lang="fr-FR" sz="1100">
                <a:solidFill>
                  <a:schemeClr val="dk1"/>
                </a:solidFill>
                <a:latin typeface="Montserrat"/>
                <a:ea typeface="Montserrat"/>
                <a:cs typeface="Montserrat"/>
                <a:sym typeface="Montserrat"/>
              </a:rPr>
              <a:t>Support Transverse : Rôle pivot entre les équipes de développement et les opérations, participation aux revues d'architecture et définition de la vision long-terme.</a:t>
            </a:r>
            <a:endParaRPr b="1" sz="1200">
              <a:solidFill>
                <a:srgbClr val="4472C4"/>
              </a:solidFill>
              <a:latin typeface="Montserrat"/>
              <a:ea typeface="Montserrat"/>
              <a:cs typeface="Montserrat"/>
              <a:sym typeface="Montserrat"/>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86" name="Google Shape;86;p13"/>
          <p:cNvSpPr txBox="1"/>
          <p:nvPr/>
        </p:nvSpPr>
        <p:spPr>
          <a:xfrm>
            <a:off x="19844" y="1028427"/>
            <a:ext cx="2047800" cy="123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1" lang="fr-FR" sz="1100">
                <a:solidFill>
                  <a:schemeClr val="lt1"/>
                </a:solidFill>
                <a:latin typeface="Montserrat"/>
                <a:ea typeface="Montserrat"/>
                <a:cs typeface="Montserrat"/>
                <a:sym typeface="Montserrat"/>
              </a:rPr>
              <a:t>Expert DevOps &amp; Architecte CI/CD</a:t>
            </a:r>
            <a:endParaRPr b="1" sz="1100">
              <a:solidFill>
                <a:schemeClr val="lt1"/>
              </a:solidFill>
              <a:latin typeface="Montserrat"/>
              <a:ea typeface="Montserrat"/>
              <a:cs typeface="Montserrat"/>
              <a:sym typeface="Montserrat"/>
            </a:endParaRPr>
          </a:p>
          <a:p>
            <a:pPr indent="0" lvl="0" marL="0" marR="0" rtl="0" algn="ctr">
              <a:lnSpc>
                <a:spcPct val="115000"/>
              </a:lnSpc>
              <a:spcBef>
                <a:spcPts val="0"/>
              </a:spcBef>
              <a:spcAft>
                <a:spcPts val="0"/>
              </a:spcAft>
              <a:buClr>
                <a:schemeClr val="dk1"/>
              </a:buClr>
              <a:buSzPts val="1100"/>
              <a:buFont typeface="Arial"/>
              <a:buNone/>
            </a:pPr>
            <a:r>
              <a:rPr lang="fr-FR" sz="1000">
                <a:solidFill>
                  <a:schemeClr val="lt1"/>
                </a:solidFill>
                <a:latin typeface="Montserrat"/>
                <a:ea typeface="Montserrat"/>
                <a:cs typeface="Montserrat"/>
                <a:sym typeface="Montserrat"/>
              </a:rPr>
              <a:t>9 ans d’expérience</a:t>
            </a:r>
            <a:endParaRPr sz="1000">
              <a:solidFill>
                <a:schemeClr val="lt1"/>
              </a:solidFill>
              <a:latin typeface="Montserrat"/>
              <a:ea typeface="Montserrat"/>
              <a:cs typeface="Montserrat"/>
              <a:sym typeface="Montserrat"/>
            </a:endParaRPr>
          </a:p>
          <a:p>
            <a:pPr indent="0" lvl="0" marL="0" marR="0" rtl="0" algn="ctr">
              <a:lnSpc>
                <a:spcPct val="115000"/>
              </a:lnSpc>
              <a:spcBef>
                <a:spcPts val="0"/>
              </a:spcBef>
              <a:spcAft>
                <a:spcPts val="0"/>
              </a:spcAft>
              <a:buClr>
                <a:schemeClr val="dk1"/>
              </a:buClr>
              <a:buSzPts val="1100"/>
              <a:buFont typeface="Arial"/>
              <a:buNone/>
            </a:pPr>
            <a:r>
              <a:t/>
            </a:r>
            <a:endParaRPr sz="1000">
              <a:solidFill>
                <a:schemeClr val="lt1"/>
              </a:solidFill>
              <a:latin typeface="Montserrat"/>
              <a:ea typeface="Montserrat"/>
              <a:cs typeface="Montserrat"/>
              <a:sym typeface="Montserrat"/>
            </a:endParaRPr>
          </a:p>
          <a:p>
            <a:pPr indent="0" lvl="0" marL="0" marR="0" rtl="0" algn="ctr">
              <a:lnSpc>
                <a:spcPct val="115000"/>
              </a:lnSpc>
              <a:spcBef>
                <a:spcPts val="0"/>
              </a:spcBef>
              <a:spcAft>
                <a:spcPts val="0"/>
              </a:spcAft>
              <a:buClr>
                <a:schemeClr val="dk1"/>
              </a:buClr>
              <a:buSzPts val="1100"/>
              <a:buFont typeface="Arial"/>
              <a:buNone/>
            </a:pPr>
            <a:r>
              <a:rPr lang="fr-FR" sz="1000">
                <a:solidFill>
                  <a:schemeClr val="lt1"/>
                </a:solidFill>
                <a:latin typeface="Montserrat"/>
                <a:ea typeface="Montserrat"/>
                <a:cs typeface="Montserrat"/>
                <a:sym typeface="Montserrat"/>
              </a:rPr>
              <a:t>Disponible le :</a:t>
            </a:r>
            <a:endParaRPr sz="1000">
              <a:solidFill>
                <a:schemeClr val="lt1"/>
              </a:solidFill>
              <a:latin typeface="Montserrat"/>
              <a:ea typeface="Montserrat"/>
              <a:cs typeface="Montserrat"/>
              <a:sym typeface="Montserrat"/>
            </a:endParaRPr>
          </a:p>
          <a:p>
            <a:pPr indent="0" lvl="0" marL="0" marR="0" rtl="0" algn="ctr">
              <a:lnSpc>
                <a:spcPct val="115000"/>
              </a:lnSpc>
              <a:spcBef>
                <a:spcPts val="0"/>
              </a:spcBef>
              <a:spcAft>
                <a:spcPts val="0"/>
              </a:spcAft>
              <a:buClr>
                <a:schemeClr val="dk1"/>
              </a:buClr>
              <a:buSzPts val="1100"/>
              <a:buFont typeface="Arial"/>
              <a:buNone/>
            </a:pPr>
            <a:r>
              <a:rPr b="1" lang="fr-FR" sz="1200">
                <a:solidFill>
                  <a:schemeClr val="lt1"/>
                </a:solidFill>
                <a:latin typeface="Montserrat"/>
                <a:ea typeface="Montserrat"/>
                <a:cs typeface="Montserrat"/>
                <a:sym typeface="Montserrat"/>
              </a:rPr>
              <a:t>3 mois de préavis</a:t>
            </a:r>
            <a:endParaRPr sz="10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87" name="Google Shape;87;p13"/>
          <p:cNvSpPr txBox="1"/>
          <p:nvPr/>
        </p:nvSpPr>
        <p:spPr>
          <a:xfrm>
            <a:off x="109950" y="213300"/>
            <a:ext cx="1765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FR" sz="2000">
                <a:solidFill>
                  <a:schemeClr val="lt1"/>
                </a:solidFill>
                <a:latin typeface="Montserrat Light"/>
                <a:ea typeface="Montserrat Light"/>
                <a:cs typeface="Montserrat Light"/>
                <a:sym typeface="Montserrat Light"/>
              </a:rPr>
              <a:t>Pierre Jacquot</a:t>
            </a:r>
            <a:endParaRPr sz="2000">
              <a:solidFill>
                <a:schemeClr val="lt1"/>
              </a:solidFill>
              <a:latin typeface="Montserrat Light"/>
              <a:ea typeface="Montserrat Light"/>
              <a:cs typeface="Montserrat Light"/>
              <a:sym typeface="Montserrat Light"/>
            </a:endParaRPr>
          </a:p>
        </p:txBody>
      </p:sp>
      <p:sp>
        <p:nvSpPr>
          <p:cNvPr id="88" name="Google Shape;88;p13"/>
          <p:cNvSpPr/>
          <p:nvPr/>
        </p:nvSpPr>
        <p:spPr>
          <a:xfrm>
            <a:off x="174600" y="2306097"/>
            <a:ext cx="1635900" cy="527100"/>
          </a:xfrm>
          <a:prstGeom prst="rect">
            <a:avLst/>
          </a:prstGeom>
          <a:noFill/>
          <a:ln cap="flat" cmpd="sng" w="9525">
            <a:solidFill>
              <a:schemeClr val="lt1"/>
            </a:solidFill>
            <a:prstDash val="dash"/>
            <a:miter lim="800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FR" sz="1000">
                <a:solidFill>
                  <a:schemeClr val="lt1"/>
                </a:solidFill>
                <a:latin typeface="Montserrat"/>
                <a:ea typeface="Montserrat"/>
                <a:cs typeface="Montserrat"/>
                <a:sym typeface="Montserrat"/>
              </a:rPr>
              <a:t>Compétences Techniques</a:t>
            </a:r>
            <a:endParaRPr b="1"/>
          </a:p>
        </p:txBody>
      </p:sp>
      <p:sp>
        <p:nvSpPr>
          <p:cNvPr id="89" name="Google Shape;89;p13"/>
          <p:cNvSpPr txBox="1"/>
          <p:nvPr/>
        </p:nvSpPr>
        <p:spPr>
          <a:xfrm>
            <a:off x="-10000" y="2833201"/>
            <a:ext cx="2107500" cy="7004100"/>
          </a:xfrm>
          <a:prstGeom prst="rect">
            <a:avLst/>
          </a:prstGeom>
          <a:noFill/>
          <a:ln>
            <a:noFill/>
          </a:ln>
        </p:spPr>
        <p:txBody>
          <a:bodyPr anchorCtr="0" anchor="t" bIns="91425" lIns="91425" spcFirstLastPara="1" rIns="91425" wrap="square" tIns="91425">
            <a:noAutofit/>
          </a:bodyPr>
          <a:lstStyle/>
          <a:p>
            <a:pPr indent="0" lvl="0" marL="0" marR="27940" rtl="0" algn="ctr">
              <a:lnSpc>
                <a:spcPct val="150000"/>
              </a:lnSpc>
              <a:spcBef>
                <a:spcPts val="0"/>
              </a:spcBef>
              <a:spcAft>
                <a:spcPts val="0"/>
              </a:spcAft>
              <a:buNone/>
            </a:pPr>
            <a:r>
              <a:rPr b="1" lang="fr-FR" sz="1000">
                <a:solidFill>
                  <a:schemeClr val="dk1"/>
                </a:solidFill>
                <a:latin typeface="Montserrat"/>
                <a:ea typeface="Montserrat"/>
                <a:cs typeface="Montserrat"/>
                <a:sym typeface="Montserrat"/>
              </a:rPr>
              <a:t>DevOps :</a:t>
            </a:r>
            <a:endParaRPr b="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Ansible, Docker, Gitlab-CI, Git, Jenkins Pipeline, Jenkins Shared Library, ADO Pipeline, Kubernetes, Helm, Terraform</a:t>
            </a:r>
            <a:endParaRPr i="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b="1" lang="fr-FR" sz="1000">
                <a:solidFill>
                  <a:schemeClr val="dk1"/>
                </a:solidFill>
                <a:latin typeface="Montserrat"/>
                <a:ea typeface="Montserrat"/>
                <a:cs typeface="Montserrat"/>
                <a:sym typeface="Montserrat"/>
              </a:rPr>
              <a:t>Outils CI/CD :</a:t>
            </a:r>
            <a:endParaRPr b="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Jenkins, Git, GitLab, Nexus, SonarQube, PyPi, ADO Pipeline</a:t>
            </a:r>
            <a:endParaRPr i="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b="1" lang="fr-FR" sz="1000">
                <a:solidFill>
                  <a:schemeClr val="dk1"/>
                </a:solidFill>
                <a:latin typeface="Montserrat"/>
                <a:ea typeface="Montserrat"/>
                <a:cs typeface="Montserrat"/>
                <a:sym typeface="Montserrat"/>
              </a:rPr>
              <a:t>Système/Réseau: </a:t>
            </a:r>
            <a:endParaRPr i="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Traefik, Proxmox, haproxy, step-ca, Nginx</a:t>
            </a:r>
            <a:endParaRPr i="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b="1" lang="fr-FR" sz="1000">
                <a:solidFill>
                  <a:schemeClr val="dk1"/>
                </a:solidFill>
                <a:latin typeface="Montserrat"/>
                <a:ea typeface="Montserrat"/>
                <a:cs typeface="Montserrat"/>
                <a:sym typeface="Montserrat"/>
              </a:rPr>
              <a:t> Langages :</a:t>
            </a:r>
            <a:endParaRPr b="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Python, Groovy, Bash</a:t>
            </a:r>
            <a:endParaRPr i="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b="1" lang="fr-FR" sz="1000">
                <a:solidFill>
                  <a:schemeClr val="dk1"/>
                </a:solidFill>
                <a:latin typeface="Montserrat"/>
                <a:ea typeface="Montserrat"/>
                <a:cs typeface="Montserrat"/>
                <a:sym typeface="Montserrat"/>
              </a:rPr>
              <a:t>Outils de Tests :</a:t>
            </a:r>
            <a:endParaRPr b="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Pytest, Pytest-mock, Robot Framework, Molecule</a:t>
            </a:r>
            <a:endParaRPr i="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b="1" lang="fr-FR" sz="1000">
                <a:solidFill>
                  <a:schemeClr val="dk1"/>
                </a:solidFill>
                <a:latin typeface="Montserrat"/>
                <a:ea typeface="Montserrat"/>
                <a:cs typeface="Montserrat"/>
                <a:sym typeface="Montserrat"/>
              </a:rPr>
              <a:t>Méthodes :</a:t>
            </a:r>
            <a:endParaRPr b="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Agile</a:t>
            </a:r>
            <a:endParaRPr i="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b="1" lang="fr-FR" sz="1000">
                <a:solidFill>
                  <a:schemeClr val="dk1"/>
                </a:solidFill>
                <a:latin typeface="Montserrat"/>
                <a:ea typeface="Montserrat"/>
                <a:cs typeface="Montserrat"/>
                <a:sym typeface="Montserrat"/>
              </a:rPr>
              <a:t>Systèmes d’exploitation :</a:t>
            </a:r>
            <a:endParaRPr b="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Linux (Debian, Centos), Windows</a:t>
            </a:r>
            <a:endParaRPr i="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b="1" lang="fr-FR" sz="1000">
                <a:solidFill>
                  <a:schemeClr val="dk1"/>
                </a:solidFill>
                <a:latin typeface="Montserrat"/>
                <a:ea typeface="Montserrat"/>
                <a:cs typeface="Montserrat"/>
                <a:sym typeface="Montserrat"/>
              </a:rPr>
              <a:t>WEB (Notions):</a:t>
            </a:r>
            <a:endParaRPr b="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API Rest, HTML5 CSS, Python Flask, JavaScript</a:t>
            </a:r>
            <a:endParaRPr i="1" sz="1000">
              <a:solidFill>
                <a:schemeClr val="dk1"/>
              </a:solidFill>
              <a:latin typeface="Montserrat"/>
              <a:ea typeface="Montserrat"/>
              <a:cs typeface="Montserrat"/>
              <a:sym typeface="Montserrat"/>
            </a:endParaRPr>
          </a:p>
          <a:p>
            <a:pPr indent="0" lvl="0" marL="0" marR="27940" rtl="0" algn="ctr">
              <a:lnSpc>
                <a:spcPct val="115000"/>
              </a:lnSpc>
              <a:spcBef>
                <a:spcPts val="0"/>
              </a:spcBef>
              <a:spcAft>
                <a:spcPts val="0"/>
              </a:spcAft>
              <a:buNone/>
            </a:pPr>
            <a:r>
              <a:rPr b="1" lang="fr-FR" sz="1000">
                <a:solidFill>
                  <a:schemeClr val="dk1"/>
                </a:solidFill>
                <a:latin typeface="Montserrat"/>
                <a:ea typeface="Montserrat"/>
                <a:cs typeface="Montserrat"/>
                <a:sym typeface="Montserrat"/>
              </a:rPr>
              <a:t>Outils :</a:t>
            </a:r>
            <a:endParaRPr b="1"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rPr i="1" lang="fr-FR" sz="1000">
                <a:solidFill>
                  <a:schemeClr val="dk1"/>
                </a:solidFill>
                <a:latin typeface="Montserrat"/>
                <a:ea typeface="Montserrat"/>
                <a:cs typeface="Montserrat"/>
                <a:sym typeface="Montserrat"/>
              </a:rPr>
              <a:t>IDEs Intellij (Pycharm, Idea), Redmine, Testrail, VSCode, Trello</a:t>
            </a:r>
            <a:endParaRPr i="1" sz="1000">
              <a:solidFill>
                <a:schemeClr val="dk1"/>
              </a:solidFill>
              <a:latin typeface="Montserrat"/>
              <a:ea typeface="Montserrat"/>
              <a:cs typeface="Montserrat"/>
              <a:sym typeface="Montserrat"/>
            </a:endParaRPr>
          </a:p>
          <a:p>
            <a:pPr indent="0" lvl="0" marL="0" marR="27940" rtl="0" algn="ctr">
              <a:lnSpc>
                <a:spcPct val="115000"/>
              </a:lnSpc>
              <a:spcBef>
                <a:spcPts val="0"/>
              </a:spcBef>
              <a:spcAft>
                <a:spcPts val="0"/>
              </a:spcAft>
              <a:buNone/>
            </a:pPr>
            <a:r>
              <a:rPr b="1" lang="fr-FR" sz="1000">
                <a:solidFill>
                  <a:schemeClr val="dk1"/>
                </a:solidFill>
                <a:latin typeface="Montserrat"/>
                <a:ea typeface="Montserrat"/>
                <a:cs typeface="Montserrat"/>
                <a:sym typeface="Montserrat"/>
              </a:rPr>
              <a:t>Notions :</a:t>
            </a:r>
            <a:endParaRPr b="1" sz="1000">
              <a:solidFill>
                <a:schemeClr val="dk1"/>
              </a:solidFill>
              <a:latin typeface="Montserrat"/>
              <a:ea typeface="Montserrat"/>
              <a:cs typeface="Montserrat"/>
              <a:sym typeface="Montserrat"/>
            </a:endParaRPr>
          </a:p>
          <a:p>
            <a:pPr indent="0" lvl="0" marL="0" marR="27940" rtl="0" algn="ctr">
              <a:lnSpc>
                <a:spcPct val="115000"/>
              </a:lnSpc>
              <a:spcBef>
                <a:spcPts val="0"/>
              </a:spcBef>
              <a:spcAft>
                <a:spcPts val="0"/>
              </a:spcAft>
              <a:buNone/>
            </a:pPr>
            <a:r>
              <a:rPr lang="fr-FR" sz="1000">
                <a:solidFill>
                  <a:schemeClr val="dk1"/>
                </a:solidFill>
                <a:latin typeface="Montserrat"/>
                <a:ea typeface="Montserrat"/>
                <a:cs typeface="Montserrat"/>
                <a:sym typeface="Montserrat"/>
              </a:rPr>
              <a:t>ELK, Kafka</a:t>
            </a:r>
            <a:endParaRPr sz="1000">
              <a:solidFill>
                <a:schemeClr val="dk1"/>
              </a:solidFill>
              <a:latin typeface="Montserrat"/>
              <a:ea typeface="Montserrat"/>
              <a:cs typeface="Montserrat"/>
              <a:sym typeface="Montserrat"/>
            </a:endParaRPr>
          </a:p>
          <a:p>
            <a:pPr indent="0" lvl="0" marL="0" marR="27940" rtl="0" algn="ctr">
              <a:lnSpc>
                <a:spcPct val="150000"/>
              </a:lnSpc>
              <a:spcBef>
                <a:spcPts val="0"/>
              </a:spcBef>
              <a:spcAft>
                <a:spcPts val="0"/>
              </a:spcAft>
              <a:buNone/>
            </a:pPr>
            <a:r>
              <a:t/>
            </a:r>
            <a:endParaRPr i="1"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cxnSp>
        <p:nvCxnSpPr>
          <p:cNvPr id="90" name="Google Shape;90;p13"/>
          <p:cNvCxnSpPr/>
          <p:nvPr/>
        </p:nvCxnSpPr>
        <p:spPr>
          <a:xfrm>
            <a:off x="310650" y="1013700"/>
            <a:ext cx="1467300" cy="0"/>
          </a:xfrm>
          <a:prstGeom prst="straightConnector1">
            <a:avLst/>
          </a:prstGeom>
          <a:noFill/>
          <a:ln cap="flat" cmpd="sng" w="38100">
            <a:solidFill>
              <a:schemeClr val="lt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nvSpPr>
        <p:spPr>
          <a:xfrm>
            <a:off x="391575" y="540000"/>
            <a:ext cx="6088500" cy="873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fr-FR" sz="1600">
                <a:solidFill>
                  <a:srgbClr val="4472C4"/>
                </a:solidFill>
                <a:latin typeface="Montserrat"/>
                <a:ea typeface="Montserrat"/>
                <a:cs typeface="Montserrat"/>
                <a:sym typeface="Montserrat"/>
              </a:rPr>
              <a:t>FreePro – Expert DevOps - TOURS </a:t>
            </a:r>
            <a:endParaRPr b="1" sz="1600">
              <a:solidFill>
                <a:srgbClr val="4472C4"/>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b="1" lang="fr-FR" sz="1200">
                <a:solidFill>
                  <a:srgbClr val="595959"/>
                </a:solidFill>
                <a:latin typeface="Montserrat"/>
                <a:ea typeface="Montserrat"/>
                <a:cs typeface="Montserrat"/>
                <a:sym typeface="Montserrat"/>
              </a:rPr>
              <a:t>Mars 2024 - Présent: Equipe Architecture - Expert CICD</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Clr>
                <a:schemeClr val="dk1"/>
              </a:buClr>
              <a:buSzPts val="1100"/>
              <a:buFont typeface="Arial"/>
              <a:buNone/>
            </a:pPr>
            <a:r>
              <a:rPr b="1" lang="fr-FR" sz="1200">
                <a:solidFill>
                  <a:srgbClr val="4472C4"/>
                </a:solidFill>
                <a:latin typeface="Montserrat"/>
                <a:ea typeface="Montserrat"/>
                <a:cs typeface="Montserrat"/>
                <a:sym typeface="Montserrat"/>
              </a:rPr>
              <a:t>CONTEXTE</a:t>
            </a:r>
            <a:endParaRPr b="1" sz="1200">
              <a:solidFill>
                <a:srgbClr val="4472C4"/>
              </a:solidFill>
              <a:latin typeface="Montserrat"/>
              <a:ea typeface="Montserrat"/>
              <a:cs typeface="Montserrat"/>
              <a:sym typeface="Montserrat"/>
            </a:endParaRPr>
          </a:p>
          <a:p>
            <a:pPr indent="0" lvl="0" marL="0" rtl="0" algn="just">
              <a:lnSpc>
                <a:spcPct val="150000"/>
              </a:lnSpc>
              <a:spcBef>
                <a:spcPts val="400"/>
              </a:spcBef>
              <a:spcAft>
                <a:spcPts val="0"/>
              </a:spcAft>
              <a:buClr>
                <a:schemeClr val="dk1"/>
              </a:buClr>
              <a:buSzPts val="1100"/>
              <a:buFont typeface="Arial"/>
              <a:buNone/>
            </a:pPr>
            <a:r>
              <a:rPr lang="fr-FR" sz="1000">
                <a:solidFill>
                  <a:schemeClr val="dk1"/>
                </a:solidFill>
                <a:latin typeface="Montserrat"/>
                <a:ea typeface="Montserrat"/>
                <a:cs typeface="Montserrat"/>
                <a:sym typeface="Montserrat"/>
              </a:rPr>
              <a:t>L’équipe architecture est composée de 5 personnes et à des missions transverses sur tous les domaines du SI de FreePro. Elle a pour but de fournir les outils transverses, documentation et support aux équipes de développement, participer aux revues de design des nouveaux projets ou des nouvelles fonctionnalités et participer à la définition de la vision long-terme pour l'architecture du SI. </a:t>
            </a:r>
            <a:endParaRPr sz="1000">
              <a:solidFill>
                <a:schemeClr val="dk1"/>
              </a:solidFill>
              <a:latin typeface="Montserrat"/>
              <a:ea typeface="Montserrat"/>
              <a:cs typeface="Montserrat"/>
              <a:sym typeface="Montserrat"/>
            </a:endParaRPr>
          </a:p>
          <a:p>
            <a:pPr indent="0" lvl="0" marL="12700" rtl="0" algn="just">
              <a:lnSpc>
                <a:spcPct val="115000"/>
              </a:lnSpc>
              <a:spcBef>
                <a:spcPts val="1600"/>
              </a:spcBef>
              <a:spcAft>
                <a:spcPts val="0"/>
              </a:spcAft>
              <a:buClr>
                <a:schemeClr val="dk1"/>
              </a:buClr>
              <a:buSzPts val="1100"/>
              <a:buFont typeface="Arial"/>
              <a:buNone/>
            </a:pPr>
            <a:r>
              <a:rPr b="1" lang="fr-FR" sz="1200">
                <a:solidFill>
                  <a:srgbClr val="4472C4"/>
                </a:solidFill>
                <a:latin typeface="Montserrat"/>
                <a:ea typeface="Montserrat"/>
                <a:cs typeface="Montserrat"/>
                <a:sym typeface="Montserrat"/>
              </a:rPr>
              <a:t>PROJETS ET MISSION</a:t>
            </a:r>
            <a:endParaRPr>
              <a:solidFill>
                <a:srgbClr val="434343"/>
              </a:solidFill>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Mise en place de CICD pour les services et applications legacy du SI FreePro (4 services)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Investigation pour permettre de renouveler les méthodes de déploiement sur des applicatifs ayant des dépendances obsolètes et non documentés (perl, php).</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de script de déploiement et configuration en Bash.</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des jobs gitlab et formation des développeurs à leurs utilisations.</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Développement d’une librairie Python permettant de créer et modifier des policies sur vault</a:t>
            </a:r>
            <a:endParaRPr b="1"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Création d’un outil permettant de déployer n’importe quel applicatif du SI FreePro et ses dépendances via docker sur les VM de développeur et de recette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des images docker pour les différents applicatifs. Une quinzaine d’images pour une quarantaine de services utilisant des langages et technologies variées (Python, Node, PHP, Perl, Apache, Nginx, Traefik)</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de playbook ansible et de roles permettant la configuration des VMs pour l’intégralité des services et applicatifs.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job gitlab-ci permettant le déploiement de l’outil sur les environnements de recette</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Développement d’un script (python) permettant le templating (jinja) et déploiement des configurations nginx et d’unité de service systemd sur les environnements de production et de développement via la CI Gitlab.</a:t>
            </a:r>
            <a:endParaRPr b="1"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Mise au point d’un workflow temporal (Python) lançant des tests de disponibilités via Playwright sur le site internet FreePro </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image docker spécifique pour récupérer le code de tests et l’exécuter en démarrage de workflow</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Analyse des résultats et déclenchement d’une alerte dans notre logiciel d’astreinte (Astry) en cas d’échec</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nvSpPr>
        <p:spPr>
          <a:xfrm>
            <a:off x="391575" y="540000"/>
            <a:ext cx="6088500" cy="6567900"/>
          </a:xfrm>
          <a:prstGeom prst="rect">
            <a:avLst/>
          </a:prstGeom>
          <a:noFill/>
          <a:ln>
            <a:noFill/>
          </a:ln>
        </p:spPr>
        <p:txBody>
          <a:bodyPr anchorCtr="0" anchor="t" bIns="91425" lIns="91425" spcFirstLastPara="1" rIns="91425" wrap="square" tIns="91425">
            <a:noAutofit/>
          </a:bodyPr>
          <a:lstStyle/>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Réalisation d’un POC sous openshift pour le déploiement du site FreePro en cluster</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Conception et implémentation de l'architecture de déploiement de la solution sur un cluster OpenShift</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des images docker pour les services et applicatifs concernés. Avec notamment un challenge de conteneurisation sur le plus gros service FreePro Legacy (service central au SI) développé en Perl et tournant sous debian 10 et non documenté.</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des Helm charts.</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Toolings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et maintenance de la CICD sur l’ensemble des applicatifs (environ un cinquantaine)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Amélioration continue de la shared library CICD pour gitlab-ci</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Formation à la bonne utilisation de git et git flow</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Divers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Support quotidien aux équipes de développements sur des problèmes CICD, systèmes et d’architecture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Monitoring des services et applicatifs en production</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Montée de niveau logiciel</a:t>
            </a:r>
            <a:endParaRPr b="1" sz="1200">
              <a:solidFill>
                <a:srgbClr val="4472C4"/>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12700" rtl="0" algn="just">
              <a:lnSpc>
                <a:spcPct val="115000"/>
              </a:lnSpc>
              <a:spcBef>
                <a:spcPts val="0"/>
              </a:spcBef>
              <a:spcAft>
                <a:spcPts val="0"/>
              </a:spcAft>
              <a:buClr>
                <a:schemeClr val="dk1"/>
              </a:buClr>
              <a:buSzPts val="1100"/>
              <a:buFont typeface="Arial"/>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marR="0" rtl="0" algn="just">
              <a:lnSpc>
                <a:spcPct val="150000"/>
              </a:lnSpc>
              <a:spcBef>
                <a:spcPts val="400"/>
              </a:spcBef>
              <a:spcAft>
                <a:spcPts val="0"/>
              </a:spcAft>
              <a:buClr>
                <a:schemeClr val="dk1"/>
              </a:buClr>
              <a:buSzPts val="1000"/>
              <a:buFont typeface="Montserrat"/>
              <a:buChar char="●"/>
            </a:pPr>
            <a:r>
              <a:rPr lang="fr-FR" sz="1000">
                <a:solidFill>
                  <a:schemeClr val="dk1"/>
                </a:solidFill>
                <a:latin typeface="Montserrat"/>
                <a:ea typeface="Montserrat"/>
                <a:cs typeface="Montserrat"/>
                <a:sym typeface="Montserrat"/>
              </a:rPr>
              <a:t>Devops : Ansible, Git, Gitlab, Vault, Docker, Helm, OpenShift</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fr-FR" sz="1000">
                <a:solidFill>
                  <a:schemeClr val="dk1"/>
                </a:solidFill>
                <a:latin typeface="Montserrat"/>
                <a:ea typeface="Montserrat"/>
                <a:cs typeface="Montserrat"/>
                <a:sym typeface="Montserrat"/>
              </a:rPr>
              <a:t>Reverse Proxy: Nginx, Traefik, Apache</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fr-FR" sz="1000">
                <a:solidFill>
                  <a:schemeClr val="dk1"/>
                </a:solidFill>
                <a:latin typeface="Montserrat"/>
                <a:ea typeface="Montserrat"/>
                <a:cs typeface="Montserrat"/>
                <a:sym typeface="Montserrat"/>
              </a:rPr>
              <a:t>Workflow: Temporal</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fr-FR" sz="1000">
                <a:solidFill>
                  <a:schemeClr val="dk1"/>
                </a:solidFill>
                <a:latin typeface="Montserrat"/>
                <a:ea typeface="Montserrat"/>
                <a:cs typeface="Montserrat"/>
                <a:sym typeface="Montserrat"/>
              </a:rPr>
              <a:t>OS: Debian</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Noto Sans Symbols"/>
              <a:buChar char="●"/>
            </a:pPr>
            <a:r>
              <a:rPr lang="fr-FR" sz="1000">
                <a:solidFill>
                  <a:schemeClr val="dk1"/>
                </a:solidFill>
                <a:latin typeface="Montserrat"/>
                <a:ea typeface="Montserrat"/>
                <a:cs typeface="Montserrat"/>
                <a:sym typeface="Montserrat"/>
              </a:rPr>
              <a:t>Outils CI/CD : Gitlab-CI</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Noto Sans Symbols"/>
              <a:buChar char="●"/>
            </a:pPr>
            <a:r>
              <a:rPr lang="fr-FR" sz="1000">
                <a:solidFill>
                  <a:schemeClr val="dk1"/>
                </a:solidFill>
                <a:latin typeface="Montserrat"/>
                <a:ea typeface="Montserrat"/>
                <a:cs typeface="Montserrat"/>
                <a:sym typeface="Montserrat"/>
              </a:rPr>
              <a:t>Langages : Python, Ansible, PHP, Perl, Bash</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fr-FR" sz="1000">
                <a:solidFill>
                  <a:schemeClr val="dk1"/>
                </a:solidFill>
                <a:latin typeface="Montserrat"/>
                <a:ea typeface="Montserrat"/>
                <a:cs typeface="Montserrat"/>
                <a:sym typeface="Montserrat"/>
              </a:rPr>
              <a:t>Notions: Kafka, ELK</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600">
              <a:solidFill>
                <a:srgbClr val="4472C4"/>
              </a:solidFill>
              <a:latin typeface="Montserrat"/>
              <a:ea typeface="Montserrat"/>
              <a:cs typeface="Montserrat"/>
              <a:sym typeface="Montserrat"/>
            </a:endParaRPr>
          </a:p>
        </p:txBody>
      </p:sp>
      <p:sp>
        <p:nvSpPr>
          <p:cNvPr id="101" name="Google Shape;101;p15"/>
          <p:cNvSpPr txBox="1"/>
          <p:nvPr/>
        </p:nvSpPr>
        <p:spPr>
          <a:xfrm>
            <a:off x="364275" y="7107910"/>
            <a:ext cx="6143100" cy="271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1600">
                <a:solidFill>
                  <a:srgbClr val="4472C4"/>
                </a:solidFill>
                <a:latin typeface="Montserrat"/>
                <a:ea typeface="Montserrat"/>
                <a:cs typeface="Montserrat"/>
                <a:sym typeface="Montserrat"/>
              </a:rPr>
              <a:t>5Team – Expert DevOps - TOURS </a:t>
            </a:r>
            <a:endParaRPr b="1" sz="1600">
              <a:solidFill>
                <a:srgbClr val="4472C4"/>
              </a:solidFill>
              <a:latin typeface="Montserrat"/>
              <a:ea typeface="Montserrat"/>
              <a:cs typeface="Montserrat"/>
              <a:sym typeface="Montserrat"/>
            </a:endParaRPr>
          </a:p>
          <a:p>
            <a:pPr indent="0" lvl="0" marL="0" rtl="0" algn="l">
              <a:spcBef>
                <a:spcPts val="0"/>
              </a:spcBef>
              <a:spcAft>
                <a:spcPts val="0"/>
              </a:spcAft>
              <a:buNone/>
            </a:pPr>
            <a:r>
              <a:rPr b="1" lang="fr-FR" sz="1200">
                <a:solidFill>
                  <a:srgbClr val="595959"/>
                </a:solidFill>
                <a:latin typeface="Montserrat"/>
                <a:ea typeface="Montserrat"/>
                <a:cs typeface="Montserrat"/>
                <a:sym typeface="Montserrat"/>
              </a:rPr>
              <a:t>Mars 2024 - Juin 2024 : Ingénieur DevOps</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None/>
            </a:pPr>
            <a:r>
              <a:rPr b="1" lang="fr-FR" sz="1200">
                <a:solidFill>
                  <a:srgbClr val="4472C4"/>
                </a:solidFill>
                <a:latin typeface="Montserrat"/>
                <a:ea typeface="Montserrat"/>
                <a:cs typeface="Montserrat"/>
                <a:sym typeface="Montserrat"/>
              </a:rPr>
              <a:t>CONTEXTE</a:t>
            </a:r>
            <a:endParaRPr b="1" sz="1200">
              <a:solidFill>
                <a:srgbClr val="4472C4"/>
              </a:solidFill>
              <a:latin typeface="Montserrat"/>
              <a:ea typeface="Montserrat"/>
              <a:cs typeface="Montserrat"/>
              <a:sym typeface="Montserrat"/>
            </a:endParaRPr>
          </a:p>
          <a:p>
            <a:pPr indent="0" lvl="0" marL="0" rtl="0" algn="just">
              <a:lnSpc>
                <a:spcPct val="150000"/>
              </a:lnSpc>
              <a:spcBef>
                <a:spcPts val="400"/>
              </a:spcBef>
              <a:spcAft>
                <a:spcPts val="0"/>
              </a:spcAft>
              <a:buNone/>
            </a:pPr>
            <a:r>
              <a:rPr lang="fr-FR" sz="1000">
                <a:solidFill>
                  <a:schemeClr val="dk1"/>
                </a:solidFill>
                <a:latin typeface="Montserrat"/>
                <a:ea typeface="Montserrat"/>
                <a:cs typeface="Montserrat"/>
                <a:sym typeface="Montserrat"/>
              </a:rPr>
              <a:t>5Team est une société d’édition logicielles d’une trentaine de personnes. Elle est constituée de deux équipes de développement travaillant sur un logiciel en python (predi5) et un logiciel en php (5Flow) et possède enfin une équipe d’adminsys permettant de gérer les infrastructures.</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a:solidFill>
                <a:schemeClr val="dk1"/>
              </a:solidFill>
            </a:endParaRPr>
          </a:p>
          <a:p>
            <a:pPr indent="0" lvl="0" marL="0" rtl="0" algn="just">
              <a:lnSpc>
                <a:spcPct val="150000"/>
              </a:lnSpc>
              <a:spcBef>
                <a:spcPts val="0"/>
              </a:spcBef>
              <a:spcAft>
                <a:spcPts val="0"/>
              </a:spcAft>
              <a:buNone/>
            </a:pPr>
            <a:br>
              <a:rPr lang="fr-FR" sz="1000">
                <a:solidFill>
                  <a:schemeClr val="dk1"/>
                </a:solidFill>
                <a:latin typeface="Montserrat"/>
                <a:ea typeface="Montserrat"/>
                <a:cs typeface="Montserrat"/>
                <a:sym typeface="Montserrat"/>
              </a:rPr>
            </a:br>
            <a:endParaRPr sz="1000">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391575" y="540000"/>
            <a:ext cx="6143100" cy="86124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fr-FR" sz="1000">
                <a:solidFill>
                  <a:schemeClr val="dk1"/>
                </a:solidFill>
                <a:latin typeface="Montserrat"/>
                <a:ea typeface="Montserrat"/>
                <a:cs typeface="Montserrat"/>
                <a:sym typeface="Montserrat"/>
              </a:rPr>
              <a:t>Mon rôle a été dans un premier temps d’aider les équipes de développement à mettre en place de la CICD sur leurs projets et les accompagner vers de meilleures pratiques de développement.</a:t>
            </a:r>
            <a:endParaRPr b="1" sz="1200">
              <a:solidFill>
                <a:srgbClr val="4472C4"/>
              </a:solidFill>
              <a:latin typeface="Montserrat"/>
              <a:ea typeface="Montserrat"/>
              <a:cs typeface="Montserrat"/>
              <a:sym typeface="Montserrat"/>
            </a:endParaRPr>
          </a:p>
          <a:p>
            <a:pPr indent="0" lvl="0" marL="12700" rtl="0" algn="just">
              <a:lnSpc>
                <a:spcPct val="115000"/>
              </a:lnSpc>
              <a:spcBef>
                <a:spcPts val="1600"/>
              </a:spcBef>
              <a:spcAft>
                <a:spcPts val="0"/>
              </a:spcAft>
              <a:buNone/>
            </a:pPr>
            <a:r>
              <a:rPr b="1" lang="fr-FR" sz="1200">
                <a:solidFill>
                  <a:srgbClr val="4472C4"/>
                </a:solidFill>
                <a:latin typeface="Montserrat"/>
                <a:ea typeface="Montserrat"/>
                <a:cs typeface="Montserrat"/>
                <a:sym typeface="Montserrat"/>
              </a:rPr>
              <a:t>PROJETS ET MISSION</a:t>
            </a:r>
            <a:endParaRPr>
              <a:solidFill>
                <a:srgbClr val="434343"/>
              </a:solidFill>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Mise en place de CICD pour le build et la livraison de 5Flow</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pipeline Gitlab-CI pour builder une archive 5Flow.</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Ecriture rôle ansible pour déployer 5Flow via son package.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de pipelines pour packager les modules 5Flow.</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Formation aux bonnes pratiques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Utilisation et maintenance de la CICD</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Formation à la bonne utilisation de git et git flow</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12700" rtl="0" algn="just">
              <a:lnSpc>
                <a:spcPct val="115000"/>
              </a:lnSpc>
              <a:spcBef>
                <a:spcPts val="0"/>
              </a:spcBef>
              <a:spcAft>
                <a:spcPts val="0"/>
              </a:spcAft>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Devops : Ansible, Git, Gitlab,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CI/CD : Gitlab-CI</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Langages : Python, Ansible, PHP</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1000">
              <a:solidFill>
                <a:srgbClr val="4472C4"/>
              </a:solidFill>
              <a:latin typeface="Montserrat"/>
              <a:ea typeface="Montserrat"/>
              <a:cs typeface="Montserrat"/>
              <a:sym typeface="Montserrat"/>
            </a:endParaRPr>
          </a:p>
          <a:p>
            <a:pPr indent="0" lvl="0" marL="0" rtl="0" algn="l">
              <a:spcBef>
                <a:spcPts val="0"/>
              </a:spcBef>
              <a:spcAft>
                <a:spcPts val="0"/>
              </a:spcAft>
              <a:buNone/>
            </a:pPr>
            <a:r>
              <a:rPr b="1" lang="fr-FR" sz="1600">
                <a:solidFill>
                  <a:srgbClr val="4472C4"/>
                </a:solidFill>
                <a:latin typeface="Montserrat"/>
                <a:ea typeface="Montserrat"/>
                <a:cs typeface="Montserrat"/>
                <a:sym typeface="Montserrat"/>
              </a:rPr>
              <a:t>MEDIAKIND – EQUIPE SOFTWARE FACTORY - TOURS (Full Remote)</a:t>
            </a:r>
            <a:endParaRPr b="1" sz="1600">
              <a:solidFill>
                <a:srgbClr val="4472C4"/>
              </a:solidFill>
              <a:latin typeface="Montserrat"/>
              <a:ea typeface="Montserrat"/>
              <a:cs typeface="Montserrat"/>
              <a:sym typeface="Montserrat"/>
            </a:endParaRPr>
          </a:p>
          <a:p>
            <a:pPr indent="0" lvl="0" marL="0" rtl="0" algn="l">
              <a:spcBef>
                <a:spcPts val="0"/>
              </a:spcBef>
              <a:spcAft>
                <a:spcPts val="0"/>
              </a:spcAft>
              <a:buNone/>
            </a:pPr>
            <a:r>
              <a:rPr b="1" lang="fr-FR" sz="1200">
                <a:solidFill>
                  <a:srgbClr val="595959"/>
                </a:solidFill>
                <a:latin typeface="Montserrat"/>
                <a:ea typeface="Montserrat"/>
                <a:cs typeface="Montserrat"/>
                <a:sym typeface="Montserrat"/>
              </a:rPr>
              <a:t>Juillet 2022 - Décembre 2023 : Ingénieur DevOps</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None/>
            </a:pPr>
            <a:r>
              <a:rPr b="1" lang="fr-FR" sz="1200">
                <a:solidFill>
                  <a:srgbClr val="4472C4"/>
                </a:solidFill>
                <a:latin typeface="Montserrat"/>
                <a:ea typeface="Montserrat"/>
                <a:cs typeface="Montserrat"/>
                <a:sym typeface="Montserrat"/>
              </a:rPr>
              <a:t>CONTEXTE</a:t>
            </a:r>
            <a:endParaRPr b="1" sz="1200">
              <a:solidFill>
                <a:srgbClr val="4472C4"/>
              </a:solidFill>
              <a:latin typeface="Montserrat"/>
              <a:ea typeface="Montserrat"/>
              <a:cs typeface="Montserrat"/>
              <a:sym typeface="Montserrat"/>
            </a:endParaRPr>
          </a:p>
          <a:p>
            <a:pPr indent="0" lvl="0" marL="0" rtl="0" algn="just">
              <a:lnSpc>
                <a:spcPct val="150000"/>
              </a:lnSpc>
              <a:spcBef>
                <a:spcPts val="400"/>
              </a:spcBef>
              <a:spcAft>
                <a:spcPts val="0"/>
              </a:spcAft>
              <a:buNone/>
            </a:pPr>
            <a:r>
              <a:rPr lang="fr-FR" sz="1000">
                <a:solidFill>
                  <a:schemeClr val="dk1"/>
                </a:solidFill>
                <a:latin typeface="Montserrat"/>
                <a:ea typeface="Montserrat"/>
                <a:cs typeface="Montserrat"/>
                <a:sym typeface="Montserrat"/>
              </a:rPr>
              <a:t>La Software Factory est une équipe de 7 personnes et a un rôle transverse au sein de Mediakind. Le rôle de l’équipe est d’uniformiser les méthodes de CI/CD, l’infrastructure, les outils utilisés et les bonnes pratiques au sein des différentes équipes composants (4 équipes) qui historiquement utilisaient chacune leurs propres outils et méthodologies. </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rPr lang="fr-FR" sz="1000">
                <a:solidFill>
                  <a:schemeClr val="dk1"/>
                </a:solidFill>
                <a:latin typeface="Montserrat"/>
                <a:ea typeface="Montserrat"/>
                <a:cs typeface="Montserrat"/>
                <a:sym typeface="Montserrat"/>
              </a:rPr>
              <a:t>L’équipe intervient à toutes les étapes de vie des livrables, des pipelines de build, à la containerisation des outils, à l’exécution des tests, jusqu’à la promotion et livraison des artefacts.</a:t>
            </a:r>
            <a:endParaRPr sz="1100">
              <a:solidFill>
                <a:schemeClr val="dk1"/>
              </a:solidFill>
            </a:endParaRPr>
          </a:p>
          <a:p>
            <a:pPr indent="0" lvl="0" marL="12700" rtl="0" algn="just">
              <a:lnSpc>
                <a:spcPct val="115000"/>
              </a:lnSpc>
              <a:spcBef>
                <a:spcPts val="1600"/>
              </a:spcBef>
              <a:spcAft>
                <a:spcPts val="0"/>
              </a:spcAft>
              <a:buNone/>
            </a:pPr>
            <a:r>
              <a:rPr b="1" lang="fr-FR" sz="1200">
                <a:solidFill>
                  <a:srgbClr val="4472C4"/>
                </a:solidFill>
                <a:latin typeface="Montserrat"/>
                <a:ea typeface="Montserrat"/>
                <a:cs typeface="Montserrat"/>
                <a:sym typeface="Montserrat"/>
              </a:rPr>
              <a:t>PROJETS ET MISSION</a:t>
            </a:r>
            <a:endParaRPr>
              <a:solidFill>
                <a:srgbClr val="434343"/>
              </a:solidFill>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Création d’une shared library Jenkins pour uniformiser les pipelines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Formation de l’équipe à l’utilisation des shared library et des pipelines déclaratifs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Mise en place du workflow de développement et du cycle de vie de la librairie</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nvSpPr>
        <p:spPr>
          <a:xfrm>
            <a:off x="391575" y="540000"/>
            <a:ext cx="6143100" cy="8914200"/>
          </a:xfrm>
          <a:prstGeom prst="rect">
            <a:avLst/>
          </a:prstGeom>
          <a:noFill/>
          <a:ln>
            <a:noFill/>
          </a:ln>
        </p:spPr>
        <p:txBody>
          <a:bodyPr anchorCtr="0" anchor="t" bIns="91425" lIns="91425" spcFirstLastPara="1" rIns="91425" wrap="square" tIns="91425">
            <a:spAutoFit/>
          </a:bodyPr>
          <a:lstStyle/>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Mise en place d’un cluster k8s afin de déployer et tester un composant (Encoding Live - Encodage vidéo)</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Déploiement d’un cluster mono node à l’aide de Terraform.</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Utilisation de subcharts Helm afin de déployer les différents microservices du composant.</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script (shell) permettant de déployer et configurer le composant en utilisant les subcharts, et d’exécuter les sanity tests dans le déploiement AKS.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Adaptation des tests RobotFramework pour leur permettre de s’exécuter sur le déploiement dans AKS.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pipeline Jenkins assurant le déploiement du cluster AKS via terraform, le déploiement du composant et l’exécution des tests de sanity.</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Création d’une image Docker unique permettant de builder, tester les microservices C++ et de servir de base pour leurs images Docker.</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 l’image Docker regroupant toutes les dépendances nécessaires au build, test et fonctionnement des microservices C++</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d’un script permettant de builder dynamiquement l’image docker en cas de détection d’un changement. (Utilisation d’un sha256 sur les dépendances de l’image et son Dockerfile)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Adaptation de tous les pipelines Jenkins de build et des images Docker des microservices C++ pour qu’ils utilisent l’image Docker.</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Application d’un outil interne permettant de ne garder que les dépendances réellement utilisées au sein des images Docker des microservices (similaire à docker-slim), et ainsi en diminuer leur taille.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Accompagnement des équipes de développement pour l’adoption de ce container dans leurs pipelines de tests.</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Tâches quotidiennes - Récurrentes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Dockerization de différents outils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Amélioration et simplification des différents scripts de builds, tests et livraisons du produit Encoding Live ainsi que des pipelines Jenkins associés.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Installation et configuration des machines et slaves de tests utilisés pour les tests et déploiement du produit Encoding Live.</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12700" rtl="0" algn="just">
              <a:lnSpc>
                <a:spcPct val="115000"/>
              </a:lnSpc>
              <a:spcBef>
                <a:spcPts val="0"/>
              </a:spcBef>
              <a:spcAft>
                <a:spcPts val="0"/>
              </a:spcAft>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chemeClr val="dk1"/>
              </a:buClr>
              <a:buSzPts val="1000"/>
              <a:buFont typeface="Noto Sans Symbols"/>
              <a:buChar char="●"/>
            </a:pPr>
            <a:r>
              <a:rPr lang="fr-FR" sz="1000">
                <a:solidFill>
                  <a:schemeClr val="dk1"/>
                </a:solidFill>
                <a:latin typeface="Montserrat"/>
                <a:ea typeface="Montserrat"/>
                <a:cs typeface="Montserrat"/>
                <a:sym typeface="Montserrat"/>
              </a:rPr>
              <a:t>Devops : Docker, Git, ADO, Jenkins Pipeline, Helm, K8s, Azure</a:t>
            </a:r>
            <a:endParaRPr sz="1100">
              <a:solidFill>
                <a:srgbClr val="7F7F7F"/>
              </a:solidFill>
            </a:endParaRPr>
          </a:p>
          <a:p>
            <a:pPr indent="-292100" lvl="0" marL="457200" rtl="0" algn="just">
              <a:lnSpc>
                <a:spcPct val="150000"/>
              </a:lnSpc>
              <a:spcBef>
                <a:spcPts val="0"/>
              </a:spcBef>
              <a:spcAft>
                <a:spcPts val="0"/>
              </a:spcAft>
              <a:buClr>
                <a:schemeClr val="dk1"/>
              </a:buClr>
              <a:buSzPts val="1000"/>
              <a:buFont typeface="Noto Sans Symbols"/>
              <a:buChar char="●"/>
            </a:pPr>
            <a:r>
              <a:rPr lang="fr-FR" sz="1000">
                <a:solidFill>
                  <a:schemeClr val="dk1"/>
                </a:solidFill>
                <a:latin typeface="Montserrat"/>
                <a:ea typeface="Montserrat"/>
                <a:cs typeface="Montserrat"/>
                <a:sym typeface="Montserrat"/>
              </a:rPr>
              <a:t>Outils CI/CD : Jenkins, Artifactory, ADO Pipeline</a:t>
            </a:r>
            <a:endParaRPr sz="1100">
              <a:solidFill>
                <a:srgbClr val="7F7F7F"/>
              </a:solidFill>
            </a:endParaRPr>
          </a:p>
          <a:p>
            <a:pPr indent="-292100" lvl="0" marL="457200" rtl="0" algn="just">
              <a:lnSpc>
                <a:spcPct val="150000"/>
              </a:lnSpc>
              <a:spcBef>
                <a:spcPts val="0"/>
              </a:spcBef>
              <a:spcAft>
                <a:spcPts val="0"/>
              </a:spcAft>
              <a:buClr>
                <a:schemeClr val="dk1"/>
              </a:buClr>
              <a:buSzPts val="1000"/>
              <a:buFont typeface="Noto Sans Symbols"/>
              <a:buChar char="●"/>
            </a:pPr>
            <a:r>
              <a:rPr lang="fr-FR" sz="1000">
                <a:solidFill>
                  <a:schemeClr val="dk1"/>
                </a:solidFill>
                <a:latin typeface="Montserrat"/>
                <a:ea typeface="Montserrat"/>
                <a:cs typeface="Montserrat"/>
                <a:sym typeface="Montserrat"/>
              </a:rPr>
              <a:t>Langages : Groovy, Python, shell</a:t>
            </a:r>
            <a:endParaRPr sz="1100">
              <a:solidFill>
                <a:srgbClr val="7F7F7F"/>
              </a:solidFill>
            </a:endParaRPr>
          </a:p>
          <a:p>
            <a:pPr indent="-292100" lvl="0" marL="457200" rtl="0" algn="just">
              <a:lnSpc>
                <a:spcPct val="150000"/>
              </a:lnSpc>
              <a:spcBef>
                <a:spcPts val="0"/>
              </a:spcBef>
              <a:spcAft>
                <a:spcPts val="0"/>
              </a:spcAft>
              <a:buClr>
                <a:schemeClr val="dk1"/>
              </a:buClr>
              <a:buSzPts val="1000"/>
              <a:buFont typeface="Noto Sans Symbols"/>
              <a:buChar char="●"/>
            </a:pPr>
            <a:r>
              <a:rPr lang="fr-FR" sz="1000">
                <a:solidFill>
                  <a:schemeClr val="dk1"/>
                </a:solidFill>
                <a:latin typeface="Montserrat"/>
                <a:ea typeface="Montserrat"/>
                <a:cs typeface="Montserrat"/>
                <a:sym typeface="Montserrat"/>
              </a:rPr>
              <a:t>Outils de tests : Robot Framework</a:t>
            </a:r>
            <a:endParaRPr sz="1000">
              <a:solidFill>
                <a:schemeClr val="dk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nvSpPr>
        <p:spPr>
          <a:xfrm>
            <a:off x="391575" y="540000"/>
            <a:ext cx="6143400" cy="834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1600">
                <a:solidFill>
                  <a:srgbClr val="4472C4"/>
                </a:solidFill>
                <a:latin typeface="Montserrat"/>
                <a:ea typeface="Montserrat"/>
                <a:cs typeface="Montserrat"/>
                <a:sym typeface="Montserrat"/>
              </a:rPr>
              <a:t>MEDIAKIND – EQUIPE INTEGRATION - RENNES</a:t>
            </a:r>
            <a:endParaRPr b="1" sz="1600">
              <a:solidFill>
                <a:srgbClr val="4472C4"/>
              </a:solidFill>
              <a:latin typeface="Montserrat"/>
              <a:ea typeface="Montserrat"/>
              <a:cs typeface="Montserrat"/>
              <a:sym typeface="Montserrat"/>
            </a:endParaRPr>
          </a:p>
          <a:p>
            <a:pPr indent="0" lvl="0" marL="0" rtl="0" algn="l">
              <a:spcBef>
                <a:spcPts val="0"/>
              </a:spcBef>
              <a:spcAft>
                <a:spcPts val="0"/>
              </a:spcAft>
              <a:buNone/>
            </a:pPr>
            <a:r>
              <a:rPr b="1" lang="fr-FR" sz="1200">
                <a:solidFill>
                  <a:srgbClr val="595959"/>
                </a:solidFill>
                <a:latin typeface="Montserrat"/>
                <a:ea typeface="Montserrat"/>
                <a:cs typeface="Montserrat"/>
                <a:sym typeface="Montserrat"/>
              </a:rPr>
              <a:t>Novembre 2020 - Juillet 2022: Intégrateur Produit</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None/>
            </a:pPr>
            <a:r>
              <a:rPr b="1" lang="fr-FR" sz="1200">
                <a:solidFill>
                  <a:srgbClr val="4472C4"/>
                </a:solidFill>
                <a:latin typeface="Montserrat"/>
                <a:ea typeface="Montserrat"/>
                <a:cs typeface="Montserrat"/>
                <a:sym typeface="Montserrat"/>
              </a:rPr>
              <a:t>CONTEXTE</a:t>
            </a:r>
            <a:endParaRPr b="1" sz="1200">
              <a:solidFill>
                <a:srgbClr val="4472C4"/>
              </a:solidFill>
              <a:latin typeface="Montserrat"/>
              <a:ea typeface="Montserrat"/>
              <a:cs typeface="Montserrat"/>
              <a:sym typeface="Montserrat"/>
            </a:endParaRPr>
          </a:p>
          <a:p>
            <a:pPr indent="0" lvl="0" marL="0" rtl="0" algn="just">
              <a:lnSpc>
                <a:spcPct val="150000"/>
              </a:lnSpc>
              <a:spcBef>
                <a:spcPts val="400"/>
              </a:spcBef>
              <a:spcAft>
                <a:spcPts val="0"/>
              </a:spcAft>
              <a:buNone/>
            </a:pPr>
            <a:r>
              <a:rPr lang="fr-FR" sz="1000">
                <a:solidFill>
                  <a:schemeClr val="dk1"/>
                </a:solidFill>
                <a:latin typeface="Montserrat"/>
                <a:ea typeface="Montserrat"/>
                <a:cs typeface="Montserrat"/>
                <a:sym typeface="Montserrat"/>
              </a:rPr>
              <a:t>L'équipe d’intégration (3 personnes) a pour responsabilité la génération continue des livrables du produit d’encodage vidéo (en version </a:t>
            </a:r>
            <a:r>
              <a:rPr lang="fr-FR" sz="1000">
                <a:solidFill>
                  <a:schemeClr val="dk1"/>
                </a:solidFill>
                <a:latin typeface="Montserrat"/>
                <a:ea typeface="Montserrat"/>
                <a:cs typeface="Montserrat"/>
                <a:sym typeface="Montserrat"/>
              </a:rPr>
              <a:t>conteneurisé</a:t>
            </a:r>
            <a:r>
              <a:rPr lang="fr-FR" sz="1000">
                <a:solidFill>
                  <a:schemeClr val="dk1"/>
                </a:solidFill>
                <a:latin typeface="Montserrat"/>
                <a:ea typeface="Montserrat"/>
                <a:cs typeface="Montserrat"/>
                <a:sym typeface="Montserrat"/>
              </a:rPr>
              <a:t> et rpm), l’intégration des nouveaux composants et features du produit, leurs vérifications via l’écriture et la mise en place de tests automatisés ainsi que le déploiement et le maintien des environnements de tests pour le reste du scrum (QA, développeurs C++, pour environ 10 personnes)</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rPr lang="fr-FR" sz="1000">
                <a:solidFill>
                  <a:schemeClr val="dk1"/>
                </a:solidFill>
                <a:latin typeface="Montserrat"/>
                <a:ea typeface="Montserrat"/>
                <a:cs typeface="Montserrat"/>
                <a:sym typeface="Montserrat"/>
              </a:rPr>
              <a:t>Au sein de l'équipe j'ai pu en particulier travailler sur les projets d’amélioration continue de notre infrastructure, comme notamment le build en container du produit et de ses micro-services, ainsi que du passage en pipeline des jobs Jenkins.</a:t>
            </a:r>
            <a:endParaRPr sz="1100">
              <a:solidFill>
                <a:schemeClr val="dk1"/>
              </a:solidFill>
            </a:endParaRPr>
          </a:p>
          <a:p>
            <a:pPr indent="0" lvl="0" marL="12700" rtl="0" algn="just">
              <a:lnSpc>
                <a:spcPct val="115000"/>
              </a:lnSpc>
              <a:spcBef>
                <a:spcPts val="1600"/>
              </a:spcBef>
              <a:spcAft>
                <a:spcPts val="0"/>
              </a:spcAft>
              <a:buNone/>
            </a:pPr>
            <a:r>
              <a:rPr b="1" lang="fr-FR" sz="1200">
                <a:solidFill>
                  <a:srgbClr val="4472C4"/>
                </a:solidFill>
                <a:latin typeface="Montserrat"/>
                <a:ea typeface="Montserrat"/>
                <a:cs typeface="Montserrat"/>
                <a:sym typeface="Montserrat"/>
              </a:rPr>
              <a:t>PROJETS ET MISSION</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Envoie des résultats RobotFramework sur ADO Test Plan</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d’une librairie Python permettant de :</a:t>
            </a:r>
            <a:endParaRPr sz="1000">
              <a:solidFill>
                <a:schemeClr val="dk1"/>
              </a:solidFill>
              <a:latin typeface="Montserrat"/>
              <a:ea typeface="Montserrat"/>
              <a:cs typeface="Montserrat"/>
              <a:sym typeface="Montserrat"/>
            </a:endParaRPr>
          </a:p>
          <a:p>
            <a:pPr indent="-292100" lvl="2" marL="1371600" rtl="0" algn="just">
              <a:lnSpc>
                <a:spcPct val="150000"/>
              </a:lnSpc>
              <a:spcBef>
                <a:spcPts val="0"/>
              </a:spcBef>
              <a:spcAft>
                <a:spcPts val="0"/>
              </a:spcAft>
              <a:buClr>
                <a:schemeClr val="dk1"/>
              </a:buClr>
              <a:buSzPts val="1000"/>
              <a:buFont typeface="Montserrat"/>
              <a:buChar char="▪"/>
            </a:pPr>
            <a:r>
              <a:rPr lang="fr-FR" sz="1000">
                <a:solidFill>
                  <a:schemeClr val="dk1"/>
                </a:solidFill>
                <a:latin typeface="Montserrat"/>
                <a:ea typeface="Montserrat"/>
                <a:cs typeface="Montserrat"/>
                <a:sym typeface="Montserrat"/>
              </a:rPr>
              <a:t>Créer des tests cases ADO depuis une suite de tests RobotFramework</a:t>
            </a:r>
            <a:endParaRPr sz="1000">
              <a:solidFill>
                <a:schemeClr val="dk1"/>
              </a:solidFill>
              <a:latin typeface="Montserrat"/>
              <a:ea typeface="Montserrat"/>
              <a:cs typeface="Montserrat"/>
              <a:sym typeface="Montserrat"/>
            </a:endParaRPr>
          </a:p>
          <a:p>
            <a:pPr indent="-292100" lvl="2" marL="1371600" rtl="0" algn="just">
              <a:lnSpc>
                <a:spcPct val="150000"/>
              </a:lnSpc>
              <a:spcBef>
                <a:spcPts val="0"/>
              </a:spcBef>
              <a:spcAft>
                <a:spcPts val="0"/>
              </a:spcAft>
              <a:buClr>
                <a:schemeClr val="dk1"/>
              </a:buClr>
              <a:buSzPts val="1000"/>
              <a:buFont typeface="Montserrat"/>
              <a:buChar char="▪"/>
            </a:pPr>
            <a:r>
              <a:rPr lang="fr-FR" sz="1000">
                <a:solidFill>
                  <a:schemeClr val="dk1"/>
                </a:solidFill>
                <a:latin typeface="Montserrat"/>
                <a:ea typeface="Montserrat"/>
                <a:cs typeface="Montserrat"/>
                <a:sym typeface="Montserrat"/>
              </a:rPr>
              <a:t>Déplacer des tests cases ADO dans une testsuite</a:t>
            </a:r>
            <a:endParaRPr sz="1000">
              <a:solidFill>
                <a:schemeClr val="dk1"/>
              </a:solidFill>
              <a:latin typeface="Montserrat"/>
              <a:ea typeface="Montserrat"/>
              <a:cs typeface="Montserrat"/>
              <a:sym typeface="Montserrat"/>
            </a:endParaRPr>
          </a:p>
          <a:p>
            <a:pPr indent="-292100" lvl="2" marL="1371600" rtl="0" algn="just">
              <a:lnSpc>
                <a:spcPct val="150000"/>
              </a:lnSpc>
              <a:spcBef>
                <a:spcPts val="0"/>
              </a:spcBef>
              <a:spcAft>
                <a:spcPts val="0"/>
              </a:spcAft>
              <a:buClr>
                <a:schemeClr val="dk1"/>
              </a:buClr>
              <a:buSzPts val="1000"/>
              <a:buFont typeface="Montserrat"/>
              <a:buChar char="▪"/>
            </a:pPr>
            <a:r>
              <a:rPr lang="fr-FR" sz="1000">
                <a:solidFill>
                  <a:schemeClr val="dk1"/>
                </a:solidFill>
                <a:latin typeface="Montserrat"/>
                <a:ea typeface="Montserrat"/>
                <a:cs typeface="Montserrat"/>
                <a:sym typeface="Montserrat"/>
              </a:rPr>
              <a:t>Envoyer les résultats de tests RobotFramework dans un résumé de tests de build d’ADO Pipeline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pipeline ADO de build de la librairie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Packaging de la librairie au sein d’une image docker</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Passage des jobs Jenkins de build au format pipeline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Migration des jobs Jenkins legacy vers des pipelines Jenkins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Formation de l’équipe à l’utilisation des pipelines</a:t>
            </a:r>
            <a:endParaRPr sz="1000">
              <a:solidFill>
                <a:schemeClr val="dk1"/>
              </a:solidFill>
              <a:latin typeface="Montserrat"/>
              <a:ea typeface="Montserrat"/>
              <a:cs typeface="Montserrat"/>
              <a:sym typeface="Montserrat"/>
            </a:endParaRPr>
          </a:p>
          <a:p>
            <a:pPr indent="0" lvl="0" marL="25400" rtl="0" algn="just">
              <a:lnSpc>
                <a:spcPct val="150000"/>
              </a:lnSpc>
              <a:spcBef>
                <a:spcPts val="0"/>
              </a:spcBef>
              <a:spcAft>
                <a:spcPts val="0"/>
              </a:spcAft>
              <a:buNone/>
            </a:pPr>
            <a:r>
              <a:t/>
            </a:r>
            <a:endParaRPr b="1"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Build des micro-services et exécution des tests en container Docker</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des containers Docker de build</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container Docker contenant l’ensemble des outils du framework de tests.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Automatisation de la génération et stockage des containers sur artifactory via ADO Pipeline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Mise en place des pipelines Jenkins permettant le build des micro-services dans leur container associé</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Mise à jour du pipeline Jenkins de tests, afin d’utiliser le container.</a:t>
            </a:r>
            <a:endParaRPr sz="1000">
              <a:solidFill>
                <a:schemeClr val="dk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nvSpPr>
        <p:spPr>
          <a:xfrm>
            <a:off x="391575" y="540000"/>
            <a:ext cx="6143400" cy="8412900"/>
          </a:xfrm>
          <a:prstGeom prst="rect">
            <a:avLst/>
          </a:prstGeom>
          <a:noFill/>
          <a:ln>
            <a:noFill/>
          </a:ln>
        </p:spPr>
        <p:txBody>
          <a:bodyPr anchorCtr="0" anchor="t" bIns="91425" lIns="91425" spcFirstLastPara="1" rIns="91425" wrap="square" tIns="91425">
            <a:spAutoFit/>
          </a:bodyPr>
          <a:lstStyle/>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Création d’un package permettant de lancer des benchmarks de densité sur une machine non connectée à internet</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script shell permettant le packaging des tests de benchmark et des dépendances rpm nécessaires au fonctionnement des tests.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Écriture d’un script de déploiement, permettant le déploiement automatique des tests et l’installation des dépendances ;</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Mise en place d’un job jenkins responsable du build du package</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Tâches quotidiennes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Écriture et implémentation de tests d’intégration du produit encoding-live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Maintien des scripts de build du produit et microservices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Installation et configuration des machines et slaves de tests utilisés par la QA et l’Intégration</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endParaRPr>
          </a:p>
          <a:p>
            <a:pPr indent="0" lvl="0" marL="12700" rtl="0" algn="just">
              <a:lnSpc>
                <a:spcPct val="115000"/>
              </a:lnSpc>
              <a:spcBef>
                <a:spcPts val="0"/>
              </a:spcBef>
              <a:spcAft>
                <a:spcPts val="0"/>
              </a:spcAft>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Devops : Docker, Git, ADO, ADO Pipeline, Jenkins Pipeline, Helm, K8s</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CI/CD : Jenkins, Artifactory</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Langages : Groovy, Python, shell</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de tests : Robot Framework</a:t>
            </a:r>
            <a:endParaRPr b="1" sz="1600">
              <a:solidFill>
                <a:srgbClr val="E05693"/>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b="1" sz="1100">
              <a:solidFill>
                <a:srgbClr val="E05693"/>
              </a:solidFill>
              <a:latin typeface="Montserrat"/>
              <a:ea typeface="Montserrat"/>
              <a:cs typeface="Montserrat"/>
              <a:sym typeface="Montserrat"/>
            </a:endParaRPr>
          </a:p>
          <a:p>
            <a:pPr indent="0" lvl="0" marL="0" rtl="0" algn="l">
              <a:spcBef>
                <a:spcPts val="0"/>
              </a:spcBef>
              <a:spcAft>
                <a:spcPts val="0"/>
              </a:spcAft>
              <a:buNone/>
            </a:pPr>
            <a:r>
              <a:rPr b="1" lang="fr-FR" sz="1600">
                <a:solidFill>
                  <a:srgbClr val="4472C4"/>
                </a:solidFill>
                <a:latin typeface="Montserrat"/>
                <a:ea typeface="Montserrat"/>
                <a:cs typeface="Montserrat"/>
                <a:sym typeface="Montserrat"/>
              </a:rPr>
              <a:t>SOFTBANK ROBOTICS EUROPE – EQUIPE RELEASE - PARIS</a:t>
            </a:r>
            <a:endParaRPr b="1" sz="1600">
              <a:solidFill>
                <a:srgbClr val="4472C4"/>
              </a:solidFill>
              <a:latin typeface="Montserrat"/>
              <a:ea typeface="Montserrat"/>
              <a:cs typeface="Montserrat"/>
              <a:sym typeface="Montserrat"/>
            </a:endParaRPr>
          </a:p>
          <a:p>
            <a:pPr indent="0" lvl="0" marL="0" rtl="0" algn="l">
              <a:spcBef>
                <a:spcPts val="0"/>
              </a:spcBef>
              <a:spcAft>
                <a:spcPts val="0"/>
              </a:spcAft>
              <a:buNone/>
            </a:pPr>
            <a:r>
              <a:rPr b="1" lang="fr-FR" sz="1200">
                <a:solidFill>
                  <a:srgbClr val="595959"/>
                </a:solidFill>
                <a:latin typeface="Montserrat"/>
                <a:ea typeface="Montserrat"/>
                <a:cs typeface="Montserrat"/>
                <a:sym typeface="Montserrat"/>
              </a:rPr>
              <a:t>Mars 2020 – Novembre 2020 : Ingénieur Release</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None/>
            </a:pPr>
            <a:r>
              <a:rPr b="1" lang="fr-FR" sz="1200">
                <a:solidFill>
                  <a:srgbClr val="4472C4"/>
                </a:solidFill>
                <a:latin typeface="Montserrat"/>
                <a:ea typeface="Montserrat"/>
                <a:cs typeface="Montserrat"/>
                <a:sym typeface="Montserrat"/>
              </a:rPr>
              <a:t>CONTEXTE</a:t>
            </a:r>
            <a:endParaRPr b="1" sz="1200">
              <a:solidFill>
                <a:srgbClr val="4472C4"/>
              </a:solidFill>
              <a:latin typeface="Montserrat"/>
              <a:ea typeface="Montserrat"/>
              <a:cs typeface="Montserrat"/>
              <a:sym typeface="Montserrat"/>
            </a:endParaRPr>
          </a:p>
          <a:p>
            <a:pPr indent="0" lvl="0" marL="0" rtl="0" algn="just">
              <a:lnSpc>
                <a:spcPct val="150000"/>
              </a:lnSpc>
              <a:spcBef>
                <a:spcPts val="400"/>
              </a:spcBef>
              <a:spcAft>
                <a:spcPts val="0"/>
              </a:spcAft>
              <a:buNone/>
            </a:pPr>
            <a:r>
              <a:rPr lang="fr-FR" sz="1000">
                <a:solidFill>
                  <a:schemeClr val="dk1"/>
                </a:solidFill>
                <a:latin typeface="Montserrat"/>
                <a:ea typeface="Montserrat"/>
                <a:cs typeface="Montserrat"/>
                <a:sym typeface="Montserrat"/>
              </a:rPr>
              <a:t>L'équipe release (2 personnes) a pour responsabilité la génération continue des livrables de l'équipe Software (80 personnes) ainsi que le développement et le déploiement des outils et de l'infrastructure d'intégration continue associés.</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rPr lang="fr-FR" sz="1000">
                <a:solidFill>
                  <a:schemeClr val="dk1"/>
                </a:solidFill>
                <a:latin typeface="Montserrat"/>
                <a:ea typeface="Montserrat"/>
                <a:cs typeface="Montserrat"/>
                <a:sym typeface="Montserrat"/>
              </a:rPr>
              <a:t>Au sein de l'équipe j'ai pu travailler à la mise à jour de notre forge logicielle ainsi que sur le déploiement et les tests de nos nouveaux outils</a:t>
            </a:r>
            <a:r>
              <a:rPr lang="fr-FR" sz="1000">
                <a:solidFill>
                  <a:schemeClr val="dk1"/>
                </a:solidFill>
              </a:rPr>
              <a:t>.</a:t>
            </a:r>
            <a:endParaRPr sz="1100">
              <a:solidFill>
                <a:schemeClr val="dk1"/>
              </a:solidFill>
            </a:endParaRPr>
          </a:p>
          <a:p>
            <a:pPr indent="0" lvl="0" marL="12700" rtl="0" algn="just">
              <a:lnSpc>
                <a:spcPct val="115000"/>
              </a:lnSpc>
              <a:spcBef>
                <a:spcPts val="1600"/>
              </a:spcBef>
              <a:spcAft>
                <a:spcPts val="0"/>
              </a:spcAft>
              <a:buNone/>
            </a:pPr>
            <a:r>
              <a:rPr b="1" lang="fr-FR" sz="1200">
                <a:solidFill>
                  <a:srgbClr val="4472C4"/>
                </a:solidFill>
                <a:latin typeface="Montserrat"/>
                <a:ea typeface="Montserrat"/>
                <a:cs typeface="Montserrat"/>
                <a:sym typeface="Montserrat"/>
              </a:rPr>
              <a:t>PROJETS ET MISSION</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Mise à jour des services de l’infrastructure d’Intégration Continue du département Software sans rupture de service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Mise à jour de tous les services déployés par la forge Ansible (Jenkins, Nexus, SonarQube) et des configurations associées</a:t>
            </a:r>
            <a:endParaRPr sz="1000">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nvSpPr>
        <p:spPr>
          <a:xfrm>
            <a:off x="391575" y="540000"/>
            <a:ext cx="6143400" cy="8436000"/>
          </a:xfrm>
          <a:prstGeom prst="rect">
            <a:avLst/>
          </a:prstGeom>
          <a:noFill/>
          <a:ln>
            <a:noFill/>
          </a:ln>
        </p:spPr>
        <p:txBody>
          <a:bodyPr anchorCtr="0" anchor="t" bIns="91425" lIns="91425" spcFirstLastPara="1" rIns="91425" wrap="square" tIns="91425">
            <a:spAutoFit/>
          </a:bodyPr>
          <a:lstStyle/>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job et d’un slave docker permettant de lancer les tests Molecule de la forge</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Définition de l’architecture et développement d’une infrastructure de tests et de déploiement des nouvelles librairies Python de l’équipe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 jobs Jenkins de lint et de build pour les librairies Python</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Ajout des configurations Jenkins job builder de ces jobs dans le dépôt de configuration</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Écriture des tests unitaires manquants aux librairies Python</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endParaRPr>
          </a:p>
          <a:p>
            <a:pPr indent="0" lvl="0" marL="12700" rtl="0" algn="just">
              <a:lnSpc>
                <a:spcPct val="115000"/>
              </a:lnSpc>
              <a:spcBef>
                <a:spcPts val="0"/>
              </a:spcBef>
              <a:spcAft>
                <a:spcPts val="0"/>
              </a:spcAft>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Devops : Ansible, Docker, Git, Gitlab, Gitlab CI, Jenkins Pipeline, Jenkins Shared Library</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CI/CD : Jenkins, Nexus, SonarQube, Gitlab</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Langages : Groovy, Python</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de tests : Pytest, Molecule, Pytest-mock</a:t>
            </a:r>
            <a:r>
              <a:rPr lang="fr-FR" sz="1100">
                <a:solidFill>
                  <a:srgbClr val="7F7F7F"/>
                </a:solidFill>
              </a:rPr>
              <a:t> </a:t>
            </a:r>
            <a:endParaRPr sz="1100">
              <a:solidFill>
                <a:srgbClr val="7F7F7F"/>
              </a:solidFill>
            </a:endParaRPr>
          </a:p>
          <a:p>
            <a:pPr indent="0" lvl="0" marL="0" rtl="0" algn="just">
              <a:lnSpc>
                <a:spcPct val="150000"/>
              </a:lnSpc>
              <a:spcBef>
                <a:spcPts val="0"/>
              </a:spcBef>
              <a:spcAft>
                <a:spcPts val="0"/>
              </a:spcAft>
              <a:buNone/>
            </a:pPr>
            <a:r>
              <a:t/>
            </a:r>
            <a:endParaRPr sz="1100">
              <a:solidFill>
                <a:srgbClr val="7F7F7F"/>
              </a:solidFill>
            </a:endParaRPr>
          </a:p>
          <a:p>
            <a:pPr indent="0" lvl="0" marL="0" rtl="0" algn="l">
              <a:spcBef>
                <a:spcPts val="0"/>
              </a:spcBef>
              <a:spcAft>
                <a:spcPts val="0"/>
              </a:spcAft>
              <a:buNone/>
            </a:pPr>
            <a:r>
              <a:rPr b="1" lang="fr-FR" sz="1600">
                <a:solidFill>
                  <a:srgbClr val="4472C4"/>
                </a:solidFill>
                <a:latin typeface="Montserrat"/>
                <a:ea typeface="Montserrat"/>
                <a:cs typeface="Montserrat"/>
                <a:sym typeface="Montserrat"/>
              </a:rPr>
              <a:t>SOFTBANK ROBOTICS EUROPE – EQUIPE TESTPROD - PARIS</a:t>
            </a:r>
            <a:endParaRPr b="1" sz="1600">
              <a:solidFill>
                <a:srgbClr val="4472C4"/>
              </a:solidFill>
              <a:latin typeface="Montserrat"/>
              <a:ea typeface="Montserrat"/>
              <a:cs typeface="Montserrat"/>
              <a:sym typeface="Montserrat"/>
            </a:endParaRPr>
          </a:p>
          <a:p>
            <a:pPr indent="0" lvl="0" marL="0" rtl="0" algn="l">
              <a:spcBef>
                <a:spcPts val="0"/>
              </a:spcBef>
              <a:spcAft>
                <a:spcPts val="0"/>
              </a:spcAft>
              <a:buNone/>
            </a:pPr>
            <a:r>
              <a:rPr b="1" lang="fr-FR" sz="1200">
                <a:solidFill>
                  <a:srgbClr val="595959"/>
                </a:solidFill>
                <a:latin typeface="Montserrat"/>
                <a:ea typeface="Montserrat"/>
                <a:cs typeface="Montserrat"/>
                <a:sym typeface="Montserrat"/>
              </a:rPr>
              <a:t>Décembre 2018 – Février 2020 : Ingénieur Infrastructure et Outillage</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None/>
            </a:pPr>
            <a:r>
              <a:rPr b="1" lang="fr-FR" sz="1200">
                <a:solidFill>
                  <a:srgbClr val="4472C4"/>
                </a:solidFill>
                <a:latin typeface="Montserrat"/>
                <a:ea typeface="Montserrat"/>
                <a:cs typeface="Montserrat"/>
                <a:sym typeface="Montserrat"/>
              </a:rPr>
              <a:t>CONTEXTE</a:t>
            </a:r>
            <a:endParaRPr b="1" sz="1200">
              <a:solidFill>
                <a:srgbClr val="4472C4"/>
              </a:solidFill>
              <a:latin typeface="Montserrat"/>
              <a:ea typeface="Montserrat"/>
              <a:cs typeface="Montserrat"/>
              <a:sym typeface="Montserrat"/>
            </a:endParaRPr>
          </a:p>
          <a:p>
            <a:pPr indent="0" lvl="0" marL="0" rtl="0" algn="just">
              <a:lnSpc>
                <a:spcPct val="150000"/>
              </a:lnSpc>
              <a:spcBef>
                <a:spcPts val="400"/>
              </a:spcBef>
              <a:spcAft>
                <a:spcPts val="0"/>
              </a:spcAft>
              <a:buNone/>
            </a:pPr>
            <a:r>
              <a:rPr lang="fr-FR" sz="1000">
                <a:solidFill>
                  <a:schemeClr val="dk1"/>
                </a:solidFill>
                <a:latin typeface="Montserrat"/>
                <a:ea typeface="Montserrat"/>
                <a:cs typeface="Montserrat"/>
                <a:sym typeface="Montserrat"/>
              </a:rPr>
              <a:t>L'équipe Testprod (5 personnes)  a pour but au sein du département d'industrialisation la création de bancs et d’outils de tests (hardware et software) permettant d'assurer la qualité du montage des robots humanoïdes NAO et Pepper tout le long de la ligne de production. Au sein de cette équipe, j'ai pu travailler à la mise en place d'une infrastructure d'intégration continue, permettant les tests automatisés et le lint de leur framework de tests durant son développement, ainsi que la mise en place d'un système de build et release pour leurs packages Python. Une grosse emphase de ma mission a aussi consisté à former l'équipe aux pratiques de DevOps et d'intégration continue.</a:t>
            </a:r>
            <a:endParaRPr sz="1000">
              <a:solidFill>
                <a:schemeClr val="dk1"/>
              </a:solidFill>
              <a:latin typeface="Montserrat"/>
              <a:ea typeface="Montserrat"/>
              <a:cs typeface="Montserrat"/>
              <a:sym typeface="Montserrat"/>
            </a:endParaRPr>
          </a:p>
          <a:p>
            <a:pPr indent="0" lvl="0" marL="12700" rtl="0" algn="just">
              <a:lnSpc>
                <a:spcPct val="115000"/>
              </a:lnSpc>
              <a:spcBef>
                <a:spcPts val="1600"/>
              </a:spcBef>
              <a:spcAft>
                <a:spcPts val="0"/>
              </a:spcAft>
              <a:buNone/>
            </a:pPr>
            <a:r>
              <a:rPr b="1" lang="fr-FR" sz="1200">
                <a:solidFill>
                  <a:srgbClr val="4472C4"/>
                </a:solidFill>
                <a:latin typeface="Montserrat"/>
                <a:ea typeface="Montserrat"/>
                <a:cs typeface="Montserrat"/>
                <a:sym typeface="Montserrat"/>
              </a:rPr>
              <a:t>PROJETS ET MISSION</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Définition de l’architecture et développement de l’infrastructure d’intégration continue et des processus de tests automatisés afin de valider le framework de tests de l’équipe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Déploiement et configuration d’une infrastructure composée d’un Jenkins et d’un Nexus à l’aide d’Ansible.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Sélection avec l’équipe des tests critiques à lancer sur le framework</a:t>
            </a:r>
            <a:endParaRPr sz="1000">
              <a:solidFill>
                <a:schemeClr val="dk1"/>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nvSpPr>
        <p:spPr>
          <a:xfrm>
            <a:off x="391575" y="540000"/>
            <a:ext cx="6143400" cy="8644200"/>
          </a:xfrm>
          <a:prstGeom prst="rect">
            <a:avLst/>
          </a:prstGeom>
          <a:noFill/>
          <a:ln>
            <a:noFill/>
          </a:ln>
        </p:spPr>
        <p:txBody>
          <a:bodyPr anchorCtr="0" anchor="t" bIns="91425" lIns="91425" spcFirstLastPara="1" rIns="91425" wrap="square" tIns="91425">
            <a:spAutoFit/>
          </a:bodyPr>
          <a:lstStyle/>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Mise en place et configuration d’un pool de robots dédiés aux tests et reliés à l’infrastructure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Formation de l’équipe à l’utilisation des outils d’intégration continue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des jobs Jenkins et slaves docker permettant de lancer les tests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des librairies d’outillages (Groovy et Python) permettant de configurer l’environnement des tests et l’infrastructure</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Définition et implémentation d’un processus de tests, lint et déploiement automatique des librairies Python de l’équipe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 jobs Jenkins permettant le lint, le test automatique et le build de librairies Python</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Construction de slaves docker permettant d’assurer le lint, le test automatique et le build des librairies dans un environnement contrôlé et répétable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Intégration des tests, du lint aux merge requests GitLab via des webhooks de Jenkins vers GitLab</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Uniformisation du logging sur l’ensemble des librairies Python de l’équipe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d’une librairie de logging en Python</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Refactoring du système de logging sur l’ensemble des librairies Python constituant le framework de test</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Formation de l’équipe aux bonnes pratiques du logging en Python</a:t>
            </a:r>
            <a:endParaRPr sz="1000">
              <a:solidFill>
                <a:schemeClr val="dk1"/>
              </a:solidFill>
              <a:latin typeface="Montserrat"/>
              <a:ea typeface="Montserrat"/>
              <a:cs typeface="Montserrat"/>
              <a:sym typeface="Montserrat"/>
            </a:endParaRPr>
          </a:p>
          <a:p>
            <a:pPr indent="0" lvl="0" marL="1270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12700" rtl="0" algn="just">
              <a:lnSpc>
                <a:spcPct val="115000"/>
              </a:lnSpc>
              <a:spcBef>
                <a:spcPts val="0"/>
              </a:spcBef>
              <a:spcAft>
                <a:spcPts val="0"/>
              </a:spcAft>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Devops : Ansible,  Docker, Git, Gitlab, Gitlab CI, Jenkins Pipeline, Jenkins Shared Library</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CI/CD : Jenkins, Nexus, SonarQube, Gitlab</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Langages : Groovy, Python</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de tests : Pytest</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 Trello</a:t>
            </a:r>
            <a:endParaRPr sz="1100">
              <a:solidFill>
                <a:srgbClr val="7F7F7F"/>
              </a:solidFill>
            </a:endParaRPr>
          </a:p>
          <a:p>
            <a:pPr indent="0" lvl="0" marL="0" rtl="0" algn="just">
              <a:lnSpc>
                <a:spcPct val="150000"/>
              </a:lnSpc>
              <a:spcBef>
                <a:spcPts val="0"/>
              </a:spcBef>
              <a:spcAft>
                <a:spcPts val="0"/>
              </a:spcAft>
              <a:buNone/>
            </a:pPr>
            <a:r>
              <a:t/>
            </a:r>
            <a:endParaRPr sz="1100">
              <a:solidFill>
                <a:srgbClr val="7F7F7F"/>
              </a:solidFill>
            </a:endParaRPr>
          </a:p>
          <a:p>
            <a:pPr indent="0" lvl="0" marL="0" rtl="0" algn="l">
              <a:spcBef>
                <a:spcPts val="0"/>
              </a:spcBef>
              <a:spcAft>
                <a:spcPts val="0"/>
              </a:spcAft>
              <a:buNone/>
            </a:pPr>
            <a:r>
              <a:rPr b="1" lang="fr-FR" sz="1600">
                <a:solidFill>
                  <a:srgbClr val="4472C4"/>
                </a:solidFill>
                <a:latin typeface="Montserrat"/>
                <a:ea typeface="Montserrat"/>
                <a:cs typeface="Montserrat"/>
                <a:sym typeface="Montserrat"/>
              </a:rPr>
              <a:t>SOFTBANK ROBOTICS EUROPE – EQUIPE QA FACTORY - PARIS</a:t>
            </a:r>
            <a:endParaRPr b="1" sz="1600">
              <a:solidFill>
                <a:srgbClr val="4472C4"/>
              </a:solidFill>
              <a:latin typeface="Montserrat"/>
              <a:ea typeface="Montserrat"/>
              <a:cs typeface="Montserrat"/>
              <a:sym typeface="Montserrat"/>
            </a:endParaRPr>
          </a:p>
          <a:p>
            <a:pPr indent="0" lvl="0" marL="0" rtl="0" algn="l">
              <a:spcBef>
                <a:spcPts val="0"/>
              </a:spcBef>
              <a:spcAft>
                <a:spcPts val="0"/>
              </a:spcAft>
              <a:buNone/>
            </a:pPr>
            <a:r>
              <a:rPr b="1" lang="fr-FR" sz="1200">
                <a:solidFill>
                  <a:srgbClr val="595959"/>
                </a:solidFill>
                <a:latin typeface="Montserrat"/>
                <a:ea typeface="Montserrat"/>
                <a:cs typeface="Montserrat"/>
                <a:sym typeface="Montserrat"/>
              </a:rPr>
              <a:t>Janvier 2017 – Décembre 2018 : Ingénieur Infrastructure et Outillage</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None/>
            </a:pPr>
            <a:r>
              <a:rPr b="1" lang="fr-FR" sz="1200">
                <a:solidFill>
                  <a:srgbClr val="4472C4"/>
                </a:solidFill>
                <a:latin typeface="Montserrat"/>
                <a:ea typeface="Montserrat"/>
                <a:cs typeface="Montserrat"/>
                <a:sym typeface="Montserrat"/>
              </a:rPr>
              <a:t>CONTEXTE</a:t>
            </a:r>
            <a:endParaRPr b="1" sz="1200">
              <a:solidFill>
                <a:srgbClr val="4472C4"/>
              </a:solidFill>
              <a:latin typeface="Montserrat"/>
              <a:ea typeface="Montserrat"/>
              <a:cs typeface="Montserrat"/>
              <a:sym typeface="Montserrat"/>
            </a:endParaRPr>
          </a:p>
          <a:p>
            <a:pPr indent="0" lvl="0" marL="0" rtl="0" algn="l">
              <a:lnSpc>
                <a:spcPct val="150000"/>
              </a:lnSpc>
              <a:spcBef>
                <a:spcPts val="400"/>
              </a:spcBef>
              <a:spcAft>
                <a:spcPts val="0"/>
              </a:spcAft>
              <a:buNone/>
            </a:pPr>
            <a:r>
              <a:rPr lang="fr-FR" sz="1000">
                <a:solidFill>
                  <a:schemeClr val="dk1"/>
                </a:solidFill>
                <a:latin typeface="Montserrat"/>
                <a:ea typeface="Montserrat"/>
                <a:cs typeface="Montserrat"/>
                <a:sym typeface="Montserrat"/>
              </a:rPr>
              <a:t>L'équipe QA Factory (4 Personnes) a pour mission le déploiement et maintien de l'infrastructure de tests automatisés et de build, la création d’outils et le maintien des bonnes pratiques de la QA Software (25 personnes)</a:t>
            </a:r>
            <a:endParaRPr b="1" sz="1200">
              <a:solidFill>
                <a:srgbClr val="595959"/>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nvSpPr>
        <p:spPr>
          <a:xfrm>
            <a:off x="391575" y="540000"/>
            <a:ext cx="6143400" cy="8244600"/>
          </a:xfrm>
          <a:prstGeom prst="rect">
            <a:avLst/>
          </a:prstGeom>
          <a:noFill/>
          <a:ln>
            <a:noFill/>
          </a:ln>
        </p:spPr>
        <p:txBody>
          <a:bodyPr anchorCtr="0" anchor="t" bIns="91425" lIns="91425" spcFirstLastPara="1" rIns="91425" wrap="square" tIns="91425">
            <a:spAutoFit/>
          </a:bodyPr>
          <a:lstStyle/>
          <a:p>
            <a:pPr indent="0" lvl="0" marL="12700" rtl="0" algn="just">
              <a:lnSpc>
                <a:spcPct val="115000"/>
              </a:lnSpc>
              <a:spcBef>
                <a:spcPts val="1600"/>
              </a:spcBef>
              <a:spcAft>
                <a:spcPts val="0"/>
              </a:spcAft>
              <a:buNone/>
            </a:pPr>
            <a:r>
              <a:rPr b="1" lang="fr-FR" sz="1200">
                <a:solidFill>
                  <a:srgbClr val="4472C4"/>
                </a:solidFill>
                <a:latin typeface="Montserrat"/>
                <a:ea typeface="Montserrat"/>
                <a:cs typeface="Montserrat"/>
                <a:sym typeface="Montserrat"/>
              </a:rPr>
              <a:t>PROJETS ET MISSION</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Orchestration du passage de l’ancienne infrastructure de tests à une infrastructure en tant que code, sans rupture de service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d’une forge Ansible permettant le déploiement de Jenkins via Docker ainsi que la configuration de ses slaves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Passage de tous les jobs Jenkins au format pipeline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d’une “Shared Library” Jenkins pour nos pipelines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Passage de slaves physiques à des slaves Docker pour Jenkins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d’une librairie jenkins-job-builder pour stocker les configurations des jobs jenkins et les déployer via la forge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Formation de l’équipe QA Software à l’utilisation des outils d’intégration continue</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b="1"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Développement de librairies et outils Python et mise en place de leurs cycles de release</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de nombreuses librairies Python (librairie assurant le flashage des robots, wrapper de l’API Rest de TestRail ou encore permettant la configuration de l’environnement des tests automatiques)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Déploiement d’un serveur Pypi interne à la QA, pour stocker les librairies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 jobs gitlab-ci pour la construction et la publication des librairies sur le serveur PyPi interne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Mise en place de changelogs et du semantic versionning</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b="1"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Organisation et implémentation d’un nouveau format de docstring pour les tests de la QA Software, et d’outils permettant de les vérifier et de créer des rapports de tests automatiquement</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Définition d’un nouveau format de docstring Python avec la QA Software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d’une librairie Python sous la forme d’un plugin pytest permettant de linter et vérifier les docstrings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job Jenkins permettant de générer automatiquement la documentation des tests</a:t>
            </a:r>
            <a:endParaRPr sz="1000">
              <a:solidFill>
                <a:schemeClr val="dk1"/>
              </a:solidFill>
              <a:latin typeface="Montserrat"/>
              <a:ea typeface="Montserrat"/>
              <a:cs typeface="Montserrat"/>
              <a:sym typeface="Montserrat"/>
            </a:endParaRPr>
          </a:p>
          <a:p>
            <a:pPr indent="-298450" lvl="1" marL="914400" rtl="0" algn="just">
              <a:lnSpc>
                <a:spcPct val="150000"/>
              </a:lnSpc>
              <a:spcBef>
                <a:spcPts val="0"/>
              </a:spcBef>
              <a:spcAft>
                <a:spcPts val="0"/>
              </a:spcAft>
              <a:buClr>
                <a:schemeClr val="dk1"/>
              </a:buClr>
              <a:buSzPts val="1100"/>
              <a:buFont typeface="Montserrat"/>
              <a:buChar char="o"/>
            </a:pPr>
            <a:r>
              <a:rPr lang="fr-FR" sz="1000">
                <a:solidFill>
                  <a:schemeClr val="dk1"/>
                </a:solidFill>
                <a:latin typeface="Montserrat"/>
                <a:ea typeface="Montserrat"/>
                <a:cs typeface="Montserrat"/>
                <a:sym typeface="Montserrat"/>
              </a:rPr>
              <a:t>Développement d’une librairie permettant la création automatique de rapports TestRail suite à l’exécution des tests en se basant sur les informations contenues dans les docstrings</a:t>
            </a:r>
            <a:endParaRPr sz="1000">
              <a:solidFill>
                <a:schemeClr val="dk1"/>
              </a:solidFill>
              <a:latin typeface="Montserrat"/>
              <a:ea typeface="Montserrat"/>
              <a:cs typeface="Montserrat"/>
              <a:sym typeface="Montserrat"/>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nvSpPr>
        <p:spPr>
          <a:xfrm>
            <a:off x="391575" y="540000"/>
            <a:ext cx="6143400" cy="8718300"/>
          </a:xfrm>
          <a:prstGeom prst="rect">
            <a:avLst/>
          </a:prstGeom>
          <a:noFill/>
          <a:ln>
            <a:noFill/>
          </a:ln>
        </p:spPr>
        <p:txBody>
          <a:bodyPr anchorCtr="0" anchor="t" bIns="91425" lIns="91425" spcFirstLastPara="1" rIns="91425" wrap="square" tIns="91425">
            <a:spAutoFit/>
          </a:bodyPr>
          <a:lstStyle/>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Tâches quotidiennes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 jobs Jenkins afin de lancer les tests automatiques développés par l’équipe QA sur un pool de robots humanoïdes (Pepper et NAO) et sur des logiciels tournant sous Linux, Windows et Mac OS </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Formation des membres de la QA Software aux bonnes pratiques de développement et à l’utilisation de la CI de tests (utilisation de virtualenv et docker, création de changelog, semantic versionning)</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Maintenance des robots et des ordinateurs de la salle de tests automatisés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Support technique de la QA Software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Animer et diriger des projets d’amélioration continue</a:t>
            </a:r>
            <a:endParaRPr sz="1000">
              <a:solidFill>
                <a:schemeClr val="dk1"/>
              </a:solidFill>
              <a:latin typeface="Montserrat"/>
              <a:ea typeface="Montserrat"/>
              <a:cs typeface="Montserrat"/>
              <a:sym typeface="Montserrat"/>
            </a:endParaRPr>
          </a:p>
          <a:p>
            <a:pPr indent="0" lvl="0" marL="0" rtl="0" algn="l">
              <a:lnSpc>
                <a:spcPct val="108333"/>
              </a:lnSpc>
              <a:spcBef>
                <a:spcPts val="400"/>
              </a:spcBef>
              <a:spcAft>
                <a:spcPts val="0"/>
              </a:spcAft>
              <a:buNone/>
            </a:pPr>
            <a:r>
              <a:t/>
            </a:r>
            <a:endParaRPr sz="1000">
              <a:solidFill>
                <a:schemeClr val="dk1"/>
              </a:solidFill>
            </a:endParaRPr>
          </a:p>
          <a:p>
            <a:pPr indent="0" lvl="0" marL="12700" rtl="0" algn="just">
              <a:lnSpc>
                <a:spcPct val="115000"/>
              </a:lnSpc>
              <a:spcBef>
                <a:spcPts val="400"/>
              </a:spcBef>
              <a:spcAft>
                <a:spcPts val="0"/>
              </a:spcAft>
              <a:buNone/>
            </a:pPr>
            <a:r>
              <a:t/>
            </a:r>
            <a:endParaRPr sz="1000">
              <a:solidFill>
                <a:schemeClr val="dk1"/>
              </a:solidFill>
              <a:latin typeface="Montserrat"/>
              <a:ea typeface="Montserrat"/>
              <a:cs typeface="Montserrat"/>
              <a:sym typeface="Montserrat"/>
            </a:endParaRPr>
          </a:p>
          <a:p>
            <a:pPr indent="0" lvl="0" marL="12700" rtl="0" algn="just">
              <a:lnSpc>
                <a:spcPct val="115000"/>
              </a:lnSpc>
              <a:spcBef>
                <a:spcPts val="0"/>
              </a:spcBef>
              <a:spcAft>
                <a:spcPts val="0"/>
              </a:spcAft>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Devops : Ansible, Docker, Git, Gitlab, Jenkins Pipeline, Jenkins Shared Library</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CI/CD : Jenkins, Nexus, SonarQube, Gitlab</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Langages : Groovy, Python, API Rest</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de tests : Pytest</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 Taïga, Redmine, Testrail</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Méthode : Agile</a:t>
            </a:r>
            <a:endParaRPr sz="1100">
              <a:solidFill>
                <a:srgbClr val="7F7F7F"/>
              </a:solidFill>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l">
              <a:spcBef>
                <a:spcPts val="0"/>
              </a:spcBef>
              <a:spcAft>
                <a:spcPts val="0"/>
              </a:spcAft>
              <a:buNone/>
            </a:pPr>
            <a:r>
              <a:rPr b="1" lang="fr-FR" sz="1600">
                <a:solidFill>
                  <a:srgbClr val="4472C4"/>
                </a:solidFill>
                <a:latin typeface="Montserrat"/>
                <a:ea typeface="Montserrat"/>
                <a:cs typeface="Montserrat"/>
                <a:sym typeface="Montserrat"/>
              </a:rPr>
              <a:t>SOFTBANK ROBOTICS EUROPE – EQUIPE QA SOFTWARE - PARIS</a:t>
            </a:r>
            <a:endParaRPr b="1" sz="1600">
              <a:solidFill>
                <a:srgbClr val="4472C4"/>
              </a:solidFill>
              <a:latin typeface="Montserrat"/>
              <a:ea typeface="Montserrat"/>
              <a:cs typeface="Montserrat"/>
              <a:sym typeface="Montserrat"/>
            </a:endParaRPr>
          </a:p>
          <a:p>
            <a:pPr indent="0" lvl="0" marL="0" rtl="0" algn="l">
              <a:spcBef>
                <a:spcPts val="0"/>
              </a:spcBef>
              <a:spcAft>
                <a:spcPts val="0"/>
              </a:spcAft>
              <a:buNone/>
            </a:pPr>
            <a:r>
              <a:rPr b="1" lang="fr-FR" sz="1200">
                <a:solidFill>
                  <a:srgbClr val="595959"/>
                </a:solidFill>
                <a:latin typeface="Montserrat"/>
                <a:ea typeface="Montserrat"/>
                <a:cs typeface="Montserrat"/>
                <a:sym typeface="Montserrat"/>
              </a:rPr>
              <a:t>Octobre 2016 – Décembre 2016 : Ingénieur Tests et Intégration Logiciel</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None/>
            </a:pPr>
            <a:r>
              <a:rPr b="1" lang="fr-FR" sz="1200">
                <a:solidFill>
                  <a:srgbClr val="4472C4"/>
                </a:solidFill>
                <a:latin typeface="Montserrat"/>
                <a:ea typeface="Montserrat"/>
                <a:cs typeface="Montserrat"/>
                <a:sym typeface="Montserrat"/>
              </a:rPr>
              <a:t>CONTEXTE</a:t>
            </a:r>
            <a:endParaRPr b="1" sz="1200">
              <a:solidFill>
                <a:srgbClr val="4472C4"/>
              </a:solidFill>
              <a:latin typeface="Montserrat"/>
              <a:ea typeface="Montserrat"/>
              <a:cs typeface="Montserrat"/>
              <a:sym typeface="Montserrat"/>
            </a:endParaRPr>
          </a:p>
          <a:p>
            <a:pPr indent="0" lvl="0" marL="0" rtl="0" algn="l">
              <a:lnSpc>
                <a:spcPct val="150000"/>
              </a:lnSpc>
              <a:spcBef>
                <a:spcPts val="400"/>
              </a:spcBef>
              <a:spcAft>
                <a:spcPts val="0"/>
              </a:spcAft>
              <a:buNone/>
            </a:pPr>
            <a:r>
              <a:rPr lang="fr-FR" sz="1000">
                <a:solidFill>
                  <a:schemeClr val="dk1"/>
                </a:solidFill>
                <a:latin typeface="Montserrat"/>
                <a:ea typeface="Montserrat"/>
                <a:cs typeface="Montserrat"/>
                <a:sym typeface="Montserrat"/>
              </a:rPr>
              <a:t>L'équipe QA software a pour rôle d'assurer la qualité et la stabilité des versions des produits au fil des ajouts et des mises à jour des développements.</a:t>
            </a:r>
            <a:endParaRPr sz="1000">
              <a:solidFill>
                <a:schemeClr val="dk1"/>
              </a:solidFill>
              <a:latin typeface="Montserrat"/>
              <a:ea typeface="Montserrat"/>
              <a:cs typeface="Montserrat"/>
              <a:sym typeface="Montserrat"/>
            </a:endParaRPr>
          </a:p>
          <a:p>
            <a:pPr indent="0" lvl="0" marL="0" rtl="0" algn="l">
              <a:lnSpc>
                <a:spcPct val="150000"/>
              </a:lnSpc>
              <a:spcBef>
                <a:spcPts val="400"/>
              </a:spcBef>
              <a:spcAft>
                <a:spcPts val="0"/>
              </a:spcAft>
              <a:buNone/>
            </a:pPr>
            <a:r>
              <a:rPr lang="fr-FR" sz="1000">
                <a:solidFill>
                  <a:schemeClr val="dk1"/>
                </a:solidFill>
                <a:latin typeface="Montserrat"/>
                <a:ea typeface="Montserrat"/>
                <a:cs typeface="Montserrat"/>
                <a:sym typeface="Montserrat"/>
              </a:rPr>
              <a:t>Durant ma mission au sein de cette équipe j'ai pu participer à la validation du nouveau système de build du système d'exploitation tournant sur les robots humanoïdes NAO et Pepper.</a:t>
            </a:r>
            <a:endParaRPr sz="1000">
              <a:solidFill>
                <a:schemeClr val="dk1"/>
              </a:solidFill>
              <a:latin typeface="Montserrat"/>
              <a:ea typeface="Montserrat"/>
              <a:cs typeface="Montserrat"/>
              <a:sym typeface="Montserrat"/>
            </a:endParaRPr>
          </a:p>
          <a:p>
            <a:pPr indent="0" lvl="0" marL="12700" rtl="0" algn="just">
              <a:lnSpc>
                <a:spcPct val="115000"/>
              </a:lnSpc>
              <a:spcBef>
                <a:spcPts val="1600"/>
              </a:spcBef>
              <a:spcAft>
                <a:spcPts val="0"/>
              </a:spcAft>
              <a:buNone/>
            </a:pPr>
            <a:r>
              <a:rPr b="1" lang="fr-FR" sz="1200">
                <a:solidFill>
                  <a:srgbClr val="4472C4"/>
                </a:solidFill>
                <a:latin typeface="Montserrat"/>
                <a:ea typeface="Montserrat"/>
                <a:cs typeface="Montserrat"/>
                <a:sym typeface="Montserrat"/>
              </a:rPr>
              <a:t>PROJETS ET MISSION</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Validation du système de build Yocto pour le système embarqué du robot humanoïde Pepper</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et validation du plan de tests avec l’équipe système</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Écriture des tests en Python</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Exécution du plan de test</a:t>
            </a:r>
            <a:endParaRPr sz="1000">
              <a:solidFill>
                <a:schemeClr val="dk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nvSpPr>
        <p:spPr>
          <a:xfrm>
            <a:off x="391575" y="540000"/>
            <a:ext cx="6143100" cy="1525800"/>
          </a:xfrm>
          <a:prstGeom prst="rect">
            <a:avLst/>
          </a:prstGeom>
          <a:noFill/>
          <a:ln>
            <a:noFill/>
          </a:ln>
        </p:spPr>
        <p:txBody>
          <a:bodyPr anchorCtr="0" anchor="t" bIns="91425" lIns="91425" spcFirstLastPara="1" rIns="91425" wrap="square" tIns="91425">
            <a:spAutoFit/>
          </a:bodyPr>
          <a:lstStyle/>
          <a:p>
            <a:pPr indent="0" lvl="0" marL="12700" rtl="0" algn="just">
              <a:lnSpc>
                <a:spcPct val="115000"/>
              </a:lnSpc>
              <a:spcBef>
                <a:spcPts val="0"/>
              </a:spcBef>
              <a:spcAft>
                <a:spcPts val="0"/>
              </a:spcAft>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CI/CD : Jenkins, Gitlab</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Langages : Python</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de tests : Pytest</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 Taïga, Redmine, Testrail</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Méthode : Agile</a:t>
            </a:r>
            <a:endParaRPr sz="1100">
              <a:solidFill>
                <a:srgbClr val="7F7F7F"/>
              </a:solidFill>
            </a:endParaRPr>
          </a:p>
        </p:txBody>
      </p:sp>
      <p:sp>
        <p:nvSpPr>
          <p:cNvPr id="147" name="Google Shape;147;p24"/>
          <p:cNvSpPr txBox="1"/>
          <p:nvPr/>
        </p:nvSpPr>
        <p:spPr>
          <a:xfrm>
            <a:off x="391500" y="2065800"/>
            <a:ext cx="6143100" cy="683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FR" sz="1600">
                <a:solidFill>
                  <a:srgbClr val="4472C4"/>
                </a:solidFill>
                <a:latin typeface="Montserrat"/>
                <a:ea typeface="Montserrat"/>
                <a:cs typeface="Montserrat"/>
                <a:sym typeface="Montserrat"/>
              </a:rPr>
              <a:t>STAGE - SOFTBANK ROBOTICS EUROPE – </a:t>
            </a:r>
            <a:r>
              <a:rPr b="1" lang="fr-FR" sz="1600">
                <a:solidFill>
                  <a:srgbClr val="4472C4"/>
                </a:solidFill>
                <a:latin typeface="Montserrat"/>
                <a:ea typeface="Montserrat"/>
                <a:cs typeface="Montserrat"/>
                <a:sym typeface="Montserrat"/>
              </a:rPr>
              <a:t>ÉQUIPE</a:t>
            </a:r>
            <a:r>
              <a:rPr b="1" lang="fr-FR" sz="1600">
                <a:solidFill>
                  <a:srgbClr val="4472C4"/>
                </a:solidFill>
                <a:latin typeface="Montserrat"/>
                <a:ea typeface="Montserrat"/>
                <a:cs typeface="Montserrat"/>
                <a:sym typeface="Montserrat"/>
              </a:rPr>
              <a:t> QA FACTORY - PARIS</a:t>
            </a:r>
            <a:endParaRPr b="1" sz="1600">
              <a:solidFill>
                <a:srgbClr val="E05693"/>
              </a:solidFill>
              <a:latin typeface="Montserrat"/>
              <a:ea typeface="Montserrat"/>
              <a:cs typeface="Montserrat"/>
              <a:sym typeface="Montserrat"/>
            </a:endParaRPr>
          </a:p>
          <a:p>
            <a:pPr indent="0" lvl="0" marL="0" rtl="0" algn="l">
              <a:spcBef>
                <a:spcPts val="0"/>
              </a:spcBef>
              <a:spcAft>
                <a:spcPts val="0"/>
              </a:spcAft>
              <a:buNone/>
            </a:pPr>
            <a:r>
              <a:rPr b="1" lang="fr-FR" sz="1200">
                <a:solidFill>
                  <a:srgbClr val="595959"/>
                </a:solidFill>
                <a:latin typeface="Montserrat"/>
                <a:ea typeface="Montserrat"/>
                <a:cs typeface="Montserrat"/>
                <a:sym typeface="Montserrat"/>
              </a:rPr>
              <a:t>Mars</a:t>
            </a:r>
            <a:r>
              <a:rPr b="1" lang="fr-FR" sz="1200">
                <a:solidFill>
                  <a:srgbClr val="595959"/>
                </a:solidFill>
                <a:latin typeface="Montserrat"/>
                <a:ea typeface="Montserrat"/>
                <a:cs typeface="Montserrat"/>
                <a:sym typeface="Montserrat"/>
              </a:rPr>
              <a:t> 2016 – Octobre 2016</a:t>
            </a:r>
            <a:endParaRPr b="1" sz="1200">
              <a:solidFill>
                <a:srgbClr val="595959"/>
              </a:solidFill>
              <a:latin typeface="Montserrat"/>
              <a:ea typeface="Montserrat"/>
              <a:cs typeface="Montserrat"/>
              <a:sym typeface="Montserrat"/>
            </a:endParaRPr>
          </a:p>
          <a:p>
            <a:pPr indent="0" lvl="0" marL="0" rtl="0" algn="l">
              <a:lnSpc>
                <a:spcPct val="115000"/>
              </a:lnSpc>
              <a:spcBef>
                <a:spcPts val="1600"/>
              </a:spcBef>
              <a:spcAft>
                <a:spcPts val="0"/>
              </a:spcAft>
              <a:buNone/>
            </a:pPr>
            <a:r>
              <a:rPr b="1" lang="fr-FR" sz="1200">
                <a:solidFill>
                  <a:srgbClr val="4472C4"/>
                </a:solidFill>
                <a:latin typeface="Montserrat"/>
                <a:ea typeface="Montserrat"/>
                <a:cs typeface="Montserrat"/>
                <a:sym typeface="Montserrat"/>
              </a:rPr>
              <a:t>CONTEXTE</a:t>
            </a:r>
            <a:endParaRPr b="1" sz="1200">
              <a:solidFill>
                <a:srgbClr val="EA5297"/>
              </a:solidFill>
              <a:latin typeface="Montserrat"/>
              <a:ea typeface="Montserrat"/>
              <a:cs typeface="Montserrat"/>
              <a:sym typeface="Montserrat"/>
            </a:endParaRPr>
          </a:p>
          <a:p>
            <a:pPr indent="0" lvl="0" marL="0" rtl="0" algn="l">
              <a:lnSpc>
                <a:spcPct val="150000"/>
              </a:lnSpc>
              <a:spcBef>
                <a:spcPts val="400"/>
              </a:spcBef>
              <a:spcAft>
                <a:spcPts val="0"/>
              </a:spcAft>
              <a:buNone/>
            </a:pPr>
            <a:r>
              <a:rPr lang="fr-FR" sz="1000">
                <a:solidFill>
                  <a:schemeClr val="dk1"/>
                </a:solidFill>
                <a:latin typeface="Montserrat"/>
                <a:ea typeface="Montserrat"/>
                <a:cs typeface="Montserrat"/>
                <a:sym typeface="Montserrat"/>
              </a:rPr>
              <a:t>L'équipe QA Factory (4 Personnes) a pour mission le déploiement et maintien de l'infrastructure de tests automatisés et de build, la création d’outils et le maintien des bonnes pratiques de la QA Software (25 personnes)</a:t>
            </a:r>
            <a:endParaRPr b="1" sz="1100">
              <a:solidFill>
                <a:schemeClr val="dk1"/>
              </a:solidFill>
            </a:endParaRPr>
          </a:p>
          <a:p>
            <a:pPr indent="0" lvl="0" marL="12700" rtl="0" algn="just">
              <a:lnSpc>
                <a:spcPct val="115000"/>
              </a:lnSpc>
              <a:spcBef>
                <a:spcPts val="1600"/>
              </a:spcBef>
              <a:spcAft>
                <a:spcPts val="0"/>
              </a:spcAft>
              <a:buNone/>
            </a:pPr>
            <a:r>
              <a:rPr b="1" lang="fr-FR" sz="1200">
                <a:solidFill>
                  <a:srgbClr val="4472C4"/>
                </a:solidFill>
                <a:latin typeface="Montserrat"/>
                <a:ea typeface="Montserrat"/>
                <a:cs typeface="Montserrat"/>
                <a:sym typeface="Montserrat"/>
              </a:rPr>
              <a:t>PROJETS ET MISSION</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Création de tests de non-régression d’une API Python</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de tests automatisés de non-régression</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Intégration des tests dans l’infrastructure de tests automatisés via un job Jenkins</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d’une application web permettant de comparer deux versions de l’API, et d’exposer leurs différences</a:t>
            </a:r>
            <a:endParaRPr sz="1000">
              <a:solidFill>
                <a:schemeClr val="dk1"/>
              </a:solidFill>
            </a:endParaRPr>
          </a:p>
          <a:p>
            <a:pPr indent="-292100" lvl="0" marL="457200" rtl="0" algn="just">
              <a:lnSpc>
                <a:spcPct val="150000"/>
              </a:lnSpc>
              <a:spcBef>
                <a:spcPts val="0"/>
              </a:spcBef>
              <a:spcAft>
                <a:spcPts val="0"/>
              </a:spcAft>
              <a:buClr>
                <a:schemeClr val="dk1"/>
              </a:buClr>
              <a:buSzPts val="1000"/>
              <a:buFont typeface="Montserrat"/>
              <a:buChar char="●"/>
            </a:pPr>
            <a:r>
              <a:rPr b="1" lang="fr-FR" sz="1000">
                <a:solidFill>
                  <a:schemeClr val="dk1"/>
                </a:solidFill>
                <a:latin typeface="Montserrat"/>
                <a:ea typeface="Montserrat"/>
                <a:cs typeface="Montserrat"/>
                <a:sym typeface="Montserrat"/>
              </a:rPr>
              <a:t>Développement de tests Android instrumentés</a:t>
            </a:r>
            <a:endParaRPr b="1"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Développement des premiers tests critiques du SDK Android du robot humanoïde Pepper</a:t>
            </a:r>
            <a:endParaRPr sz="1000">
              <a:solidFill>
                <a:schemeClr val="dk1"/>
              </a:solidFill>
              <a:latin typeface="Montserrat"/>
              <a:ea typeface="Montserrat"/>
              <a:cs typeface="Montserrat"/>
              <a:sym typeface="Montserrat"/>
            </a:endParaRPr>
          </a:p>
          <a:p>
            <a:pPr indent="-292100" lvl="1" marL="914400" rtl="0" algn="just">
              <a:lnSpc>
                <a:spcPct val="150000"/>
              </a:lnSpc>
              <a:spcBef>
                <a:spcPts val="0"/>
              </a:spcBef>
              <a:spcAft>
                <a:spcPts val="0"/>
              </a:spcAft>
              <a:buClr>
                <a:schemeClr val="dk1"/>
              </a:buClr>
              <a:buSzPts val="1000"/>
              <a:buFont typeface="Montserrat"/>
              <a:buChar char="o"/>
            </a:pPr>
            <a:r>
              <a:rPr lang="fr-FR" sz="1000">
                <a:solidFill>
                  <a:schemeClr val="dk1"/>
                </a:solidFill>
                <a:latin typeface="Montserrat"/>
                <a:ea typeface="Montserrat"/>
                <a:cs typeface="Montserrat"/>
                <a:sym typeface="Montserrat"/>
              </a:rPr>
              <a:t>Création d’un job Jenkins automatisé permettant l’installation d’une APK de test sur la tablette du robot Pepper, son lancement et la récupération des résultats</a:t>
            </a:r>
            <a:endParaRPr sz="1000">
              <a:solidFill>
                <a:schemeClr val="dk1"/>
              </a:solidFill>
              <a:latin typeface="Montserrat"/>
              <a:ea typeface="Montserrat"/>
              <a:cs typeface="Montserrat"/>
              <a:sym typeface="Montserrat"/>
            </a:endParaRPr>
          </a:p>
          <a:p>
            <a:pPr indent="0" lvl="0" marL="12700" rtl="0" algn="just">
              <a:lnSpc>
                <a:spcPct val="115000"/>
              </a:lnSpc>
              <a:spcBef>
                <a:spcPts val="0"/>
              </a:spcBef>
              <a:spcAft>
                <a:spcPts val="0"/>
              </a:spcAft>
              <a:buNone/>
            </a:pPr>
            <a:r>
              <a:rPr b="1" lang="fr-FR" sz="1200">
                <a:solidFill>
                  <a:srgbClr val="4472C4"/>
                </a:solidFill>
                <a:latin typeface="Montserrat"/>
                <a:ea typeface="Montserrat"/>
                <a:cs typeface="Montserrat"/>
                <a:sym typeface="Montserrat"/>
              </a:rPr>
              <a:t>OUTILS ET TECHNOLOGIES</a:t>
            </a:r>
            <a:endParaRPr b="1" sz="1200">
              <a:solidFill>
                <a:srgbClr val="4472C4"/>
              </a:solidFill>
              <a:latin typeface="Montserrat"/>
              <a:ea typeface="Montserrat"/>
              <a:cs typeface="Montserrat"/>
              <a:sym typeface="Montserrat"/>
            </a:endParaRPr>
          </a:p>
          <a:p>
            <a:pPr indent="-292100" lvl="0" marL="457200" rtl="0" algn="just">
              <a:lnSpc>
                <a:spcPct val="150000"/>
              </a:lnSpc>
              <a:spcBef>
                <a:spcPts val="40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CI/CD : Jenkins, Gitlab</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Langages : Python, Java/Android</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WEB : HTML5, CSS, Python Flask, JavaScript</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de tests : Pytest</a:t>
            </a:r>
            <a:endParaRPr sz="1100">
              <a:solidFill>
                <a:srgbClr val="7F7F7F"/>
              </a:solidFill>
            </a:endParaRPr>
          </a:p>
          <a:p>
            <a:pPr indent="-292100" lvl="0" marL="457200" rtl="0" algn="just">
              <a:lnSpc>
                <a:spcPct val="150000"/>
              </a:lnSpc>
              <a:spcBef>
                <a:spcPts val="0"/>
              </a:spcBef>
              <a:spcAft>
                <a:spcPts val="0"/>
              </a:spcAft>
              <a:buClr>
                <a:srgbClr val="7F7F7F"/>
              </a:buClr>
              <a:buSzPts val="1000"/>
              <a:buFont typeface="Noto Sans Symbols"/>
              <a:buChar char="●"/>
            </a:pPr>
            <a:r>
              <a:rPr lang="fr-FR" sz="1000">
                <a:solidFill>
                  <a:schemeClr val="dk1"/>
                </a:solidFill>
                <a:latin typeface="Montserrat"/>
                <a:ea typeface="Montserrat"/>
                <a:cs typeface="Montserrat"/>
                <a:sym typeface="Montserrat"/>
              </a:rPr>
              <a:t>Outils : Taïga, Redmine, Testrail</a:t>
            </a:r>
            <a:endParaRPr sz="1100">
              <a:solidFill>
                <a:srgbClr val="7F7F7F"/>
              </a:solidFill>
            </a:endParaRPr>
          </a:p>
          <a:p>
            <a:pPr indent="0" lvl="0" marL="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